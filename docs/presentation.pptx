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2F3F4"/>
                </a:solidFill>
                <a:latin typeface="Calibri"/>
              </a:defRPr>
            </a:pPr>
            <a:r>
              <a:t>Conception et Developpement d'un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CRM Intelligent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2F3F4"/>
                </a:solidFill>
                <a:latin typeface="Calibri"/>
              </a:defRPr>
            </a:pPr>
            <a:r>
              <a:t>Integrant un Module de Prediction des Ventes</a:t>
            </a:r>
            <a:br/>
            <a:r>
              <a:t>Base sur le Machine Learning pour le E-Commerce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4206240"/>
            <a:ext cx="3931920" cy="25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Entreprise : BAT PROJET ENGINEERING  |  Represente par Mr. ATALLAH Mohammed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2F3F4"/>
                </a:solidFill>
                <a:latin typeface="Calibri"/>
              </a:defRPr>
            </a:pPr>
            <a:r>
              <a:t>Rezaiguia Soltane Tadj Eddine (DS)    Bellatreche Mohamed Amine (DS)</a:t>
            </a:r>
            <a:br/>
            <a:r>
              <a:t>Khelifi Ayyoub (CS)    Brahim Soheib (AI)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50292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2F3F4"/>
                </a:solidFill>
                <a:latin typeface="Calibri"/>
              </a:defRPr>
            </a:pPr>
            <a:r>
              <a:t>Encadre par : Dr. Khellat Souad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7F8C8D"/>
                </a:solidFill>
                <a:latin typeface="Calibri"/>
              </a:defRPr>
            </a:pPr>
            <a:r>
              <a:t>Projet de Fin d'Etudes  |  Specialite : Data Science  |  Annee 2024-2025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Plan de la Presentation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92024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894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Contexte et Problematique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174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E-commerce COD en Algerie, defis, objectifs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69748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672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Architecture du Systeme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951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Architecture globale, base de donnees, microservices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47472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4493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Integration 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728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Flux IA, pipeline ML, cycle de vie commande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25196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4226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Modeles de Machine Learning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505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Risk scoring, segmentation, prevision demande</a:t>
            </a:r>
          </a:p>
        </p:txBody>
      </p:sp>
      <p:sp>
        <p:nvSpPr>
          <p:cNvPr id="17" name="Oval 16"/>
          <p:cNvSpPr/>
          <p:nvPr/>
        </p:nvSpPr>
        <p:spPr>
          <a:xfrm>
            <a:off x="914400" y="502920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5003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Resultats et Evaluation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5283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Comparaison des modeles, metriques, interpretation</a:t>
            </a:r>
          </a:p>
        </p:txBody>
      </p:sp>
      <p:sp>
        <p:nvSpPr>
          <p:cNvPr id="20" name="Oval 19"/>
          <p:cNvSpPr/>
          <p:nvPr/>
        </p:nvSpPr>
        <p:spPr>
          <a:xfrm>
            <a:off x="914400" y="580644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781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Demonstration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6060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Endpoints, exemples de requetes/reponses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2/16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Contexte et Problematique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303520" cy="4389120"/>
          </a:xfrm>
          <a:prstGeom prst="roundRect">
            <a:avLst/>
          </a:prstGeom>
          <a:solidFill>
            <a:srgbClr val="F2F3F4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Le modele COD en Algerie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90%+ des transactions en Cash-on-Delivery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58 wilayas, 3 zones d'expedition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Monnaie : Dinar Algerien (DZD)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Population jeune et connectee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303520" cy="4389120"/>
          </a:xfrm>
          <a:prstGeom prst="roundRect">
            <a:avLst/>
          </a:prstGeom>
          <a:solidFill>
            <a:srgbClr val="F2F3F4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Calibri"/>
              </a:defRPr>
            </a:pPr>
            <a:r>
              <a:t>Problematique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6888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30-50% des commandes echouent (retour, refus, absence)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Couts de transport aller-retour sans recette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Confirmations telephoniques manuelles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Aucune capacite predictive dans les CRM actuels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669280"/>
            <a:ext cx="10881360" cy="7315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7607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Objectif : Integrer le Machine Learning dans le CRM pour transformer les donnees en decisions actionnables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3/16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Architecture Globale du Systeme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chitecture_globale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737360"/>
            <a:ext cx="941832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4/16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Schema Relationnel de la Base de Donnees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12 tables  |  Architecture multi-tenant (store_id)  |  MySQL 8.0  |  UTF8MB4</a:t>
            </a:r>
          </a:p>
        </p:txBody>
      </p:sp>
      <p:pic>
        <p:nvPicPr>
          <p:cNvPr id="6" name="Picture 5" descr="schema_base_donnees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0"/>
            <a:ext cx="1124712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5/16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Integration IA dans le CRM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i_integration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1069848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6/16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Pipeline Machine Learning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l_pipeline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1069848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7/16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Cycle de Vie d'une Commande COD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ycle_vie_commande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1069848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8/16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Prediction du Risque de Livraison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Calibri"/>
              </a:defRPr>
            </a:pPr>
            <a:r>
              <a:t>Classification binaire : predire si une commande sera livree (y=1) ou echouera (y=0)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60320"/>
            <a:ext cx="2103120" cy="13716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1680" y="2651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E86C1"/>
                </a:solidFill>
                <a:latin typeface="Calibri"/>
              </a:defRPr>
            </a:pPr>
            <a:r>
              <a:t>Temporelles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168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6 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1680" y="33375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Heure, jour, mois, jours feries/weekend, trimestre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2560320"/>
            <a:ext cx="2103120" cy="13716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81960" y="2651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7AE60"/>
                </a:solidFill>
                <a:latin typeface="Calibri"/>
              </a:defRPr>
            </a:pPr>
            <a:r>
              <a:t>Valeur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196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4 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81960" y="33375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Montant, sous-total, frais, ratio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2560320"/>
            <a:ext cx="2103120" cy="13716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2240" y="2651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67E22"/>
                </a:solidFill>
                <a:latin typeface="Calibri"/>
              </a:defRPr>
            </a:pPr>
            <a:r>
              <a:t>Client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2224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3 features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22240" y="33375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Recurrence, nb commandes, panier moyen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60920" y="2560320"/>
            <a:ext cx="2103120" cy="13716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2520" y="2651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8E44AD"/>
                </a:solidFill>
                <a:latin typeface="Calibri"/>
              </a:defRPr>
            </a:pPr>
            <a:r>
              <a:t>Paiement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252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6 features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62520" y="33375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Boleto/COD, CB, debit, voucher, mensualites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0" y="2560320"/>
            <a:ext cx="2103120" cy="13716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02800" y="2651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C0392B"/>
                </a:solidFill>
                <a:latin typeface="Calibri"/>
              </a:defRPr>
            </a:pPr>
            <a:r>
              <a:t>Qualite/Geo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0280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12 features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02800" y="33375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Photos, desc., volume, poids, region, vendeur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206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Ensemble par vote pondere (Soft Voting) de 3 modeles :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754880"/>
            <a:ext cx="3474720" cy="137160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1680" y="4846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CatBoost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1680" y="530352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2F3F4"/>
                </a:solidFill>
                <a:latin typeface="Calibri"/>
              </a:defRPr>
            </a:pPr>
            <a:r>
              <a:t>Gestion native des</a:t>
            </a:r>
            <a:br/>
            <a:r>
              <a:t>variables categorielles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19" y="4754880"/>
            <a:ext cx="3474720" cy="137160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90719" y="4846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LightGBM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90719" y="530352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2F3F4"/>
                </a:solidFill>
                <a:latin typeface="Calibri"/>
              </a:defRPr>
            </a:pPr>
            <a:r>
              <a:t>GOSS + EFB</a:t>
            </a:r>
            <a:br/>
            <a:r>
              <a:t>Croissance leaf-wise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8158" y="4754880"/>
            <a:ext cx="3474720" cy="137160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39758" y="4846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XGBoost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39758" y="530352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2F3F4"/>
                </a:solidFill>
                <a:latin typeface="Calibri"/>
              </a:defRPr>
            </a:pPr>
            <a:r>
              <a:t>Regularisation L1/L2</a:t>
            </a:r>
            <a:br/>
            <a:r>
              <a:t>Optimisation Newton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9/16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Resultats : Comparaison des Modeles de Classification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Test : 19 543 echantillons (80/20 split stratifie)  |  31 features  |  ADASYN + Optuna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20116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3055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Modele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2103120"/>
            <a:ext cx="15544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AUC-ROC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103120"/>
            <a:ext cx="15544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Accuracy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2103120"/>
            <a:ext cx="15544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0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Precision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0" y="2103120"/>
            <a:ext cx="15544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0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Rappel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2103120"/>
            <a:ext cx="15544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F1-Score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560320"/>
            <a:ext cx="20116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25984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CatBoost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34640" y="25603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34640" y="25984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0.9957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0" y="25603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25984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0" y="25603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0" y="25984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80" y="25603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0" y="25984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1.0000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2560" y="25603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0" y="25984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3017520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30556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LightGBM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34640" y="3017520"/>
            <a:ext cx="1554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34640" y="30556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0.9974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0" y="3017520"/>
            <a:ext cx="1554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0" y="30556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3017520"/>
            <a:ext cx="1554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30556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98080" y="3017520"/>
            <a:ext cx="1554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0" y="30556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1.0000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52560" y="3017520"/>
            <a:ext cx="1554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52560" y="30556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" y="3474720"/>
            <a:ext cx="20116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35128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XGBoost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34640" y="34747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34640" y="35128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0.9967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120" y="34747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89120" y="35128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43600" y="34747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0" y="35128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498080" y="34747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98080" y="35128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0.9999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52560" y="34747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52560" y="35128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2960" y="3931920"/>
            <a:ext cx="20116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2960" y="39700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Ensemble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34640" y="3931920"/>
            <a:ext cx="15544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834640" y="39700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0.9961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120" y="3931920"/>
            <a:ext cx="15544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89120" y="39700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0.9997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943600" y="3931920"/>
            <a:ext cx="15544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3600" y="39700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0.9997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498080" y="3931920"/>
            <a:ext cx="15544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98080" y="39700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1.0000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052560" y="3931920"/>
            <a:ext cx="15544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052560" y="39700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0.9999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960" y="4754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Matrice de Confusion (Ensemble)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2960" y="5212080"/>
            <a:ext cx="18288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22960" y="5237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69" name="Rectangle 68"/>
          <p:cNvSpPr/>
          <p:nvPr/>
        </p:nvSpPr>
        <p:spPr>
          <a:xfrm>
            <a:off x="2651760" y="521208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651760" y="5237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Predit: Echouee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80560" y="521208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480560" y="5237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Predit: Livree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22960" y="562356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22960" y="5648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Reel: Echouee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651760" y="5623560"/>
            <a:ext cx="1828800" cy="411480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651760" y="5648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242 (VN)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80560" y="5623560"/>
            <a:ext cx="1828800" cy="411480"/>
          </a:xfrm>
          <a:prstGeom prst="rect">
            <a:avLst/>
          </a:prstGeom>
          <a:solidFill>
            <a:srgbClr val="F8C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480560" y="5648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5 (FP)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2960" y="603504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2960" y="6060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Reel: Livree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651760" y="6035040"/>
            <a:ext cx="1828800" cy="411480"/>
          </a:xfrm>
          <a:prstGeom prst="rect">
            <a:avLst/>
          </a:prstGeom>
          <a:solidFill>
            <a:srgbClr val="F8C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651760" y="6060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0 (FN)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80560" y="6035040"/>
            <a:ext cx="1828800" cy="411480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480560" y="6060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19 296 (VP)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400800" y="4846320"/>
            <a:ext cx="5029200" cy="1371600"/>
          </a:xfrm>
          <a:prstGeom prst="round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583680" y="493776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7E22"/>
                </a:solidFill>
                <a:latin typeface="Calibri"/>
              </a:defRPr>
            </a:pPr>
            <a:r>
              <a:t>Points cles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83680" y="530352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AUC-ROC : 0.9961 (31 features, ADASYN, Optuna)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Rappel echecs : 98% | Precision : 100% | F1 = 0.99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Seuil ensemble : 0.9805 (Youden's J statistic)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Seuils individuels : F1-max par modele (precision_recall_curve)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10/16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Segmentation Client (Hybride HDBSCAN / KMeans)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7F8C8D"/>
                </a:solidFill>
                <a:latin typeface="Calibri"/>
              </a:defRPr>
            </a:pPr>
            <a:r>
              <a:t>Analyse RFM + Clustering adaptatif : HDBSCAN (&gt;=1000 clients) ou KMeans avec auto-K (&lt;1000 clients)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86000"/>
            <a:ext cx="2103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210312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3042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7AE60"/>
                </a:solidFill>
                <a:latin typeface="Calibri"/>
              </a:defRPr>
            </a:pPr>
            <a:r>
              <a:t>3 673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83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(3.8%)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Haute valeur, achats frequents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2286000"/>
            <a:ext cx="2103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0" y="2286000"/>
            <a:ext cx="210312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23042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Loyal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E86C1"/>
                </a:solidFill>
                <a:latin typeface="Calibri"/>
              </a:defRPr>
            </a:pPr>
            <a:r>
              <a:t>252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383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(0.3%)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Clients reguliers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2286000"/>
            <a:ext cx="2103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0" y="2286000"/>
            <a:ext cx="210312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23042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 Risque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67E22"/>
                </a:solidFill>
                <a:latin typeface="Calibri"/>
              </a:defRPr>
            </a:pPr>
            <a:r>
              <a:t>2 736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383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(2.8%)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Declin d'activite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0" y="2286000"/>
            <a:ext cx="2103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2286000"/>
            <a:ext cx="2103120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0" y="23042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Perdu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C0392B"/>
                </a:solidFill>
                <a:latin typeface="Calibri"/>
              </a:defRPr>
            </a:pPr>
            <a:r>
              <a:t>441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3383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(0.5%)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Inactifs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01200" y="2286000"/>
            <a:ext cx="2103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F8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01200" y="2286000"/>
            <a:ext cx="2103120" cy="457200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0" y="23042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Standard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7F8C8D"/>
                </a:solidFill>
                <a:latin typeface="Calibri"/>
              </a:defRPr>
            </a:pPr>
            <a:r>
              <a:t>88 994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3383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(92.6%)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Clients occasionnels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120640"/>
            <a:ext cx="1124712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14807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Total : 96 096 clients (Olist = HDBSCAN) | Petites BDD = KMeans auto-K (silhouette optimisee)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Actions : VIP -&gt; Fidelite &amp; offres exclusives  |  A Risque -&gt; Campagnes de reactivation  |  Standard -&gt; Strategies de conversion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11/16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Prevision de la Demande (LightGBM + Calendrier Islamique)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Benchmark de 5 modeles covariants  |  Serie temporelle : CA quotidien DZD sur 714 jours  |  Evaluation out-of-sample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7432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2140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Modele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103120"/>
            <a:ext cx="22860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21214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MAE (DZD)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77840" y="2103120"/>
            <a:ext cx="22860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0" y="21214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RMSE (DZD)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10312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212140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MAPE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0312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0" y="212140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vs MA7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514600"/>
            <a:ext cx="27432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54000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Moyenne Mobile (7j)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2514600"/>
            <a:ext cx="22860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0" y="254000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363 075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77840" y="2514600"/>
            <a:ext cx="22860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0" y="254000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466 570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63840" y="2514600"/>
            <a:ext cx="18288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0" y="254000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163.9%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92640" y="2514600"/>
            <a:ext cx="18288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0" y="254000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baseline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898648"/>
            <a:ext cx="2743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92404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Prophet + Fetes islamiques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91840" y="2898648"/>
            <a:ext cx="2286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91840" y="292404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376 292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77840" y="2898648"/>
            <a:ext cx="2286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77840" y="292404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447 736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63840" y="2898648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0" y="292404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150.6%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92640" y="2898648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92640" y="292404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-3.6%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282696"/>
            <a:ext cx="27432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330809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Chronos-T5-Small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91840" y="3282696"/>
            <a:ext cx="22860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1840" y="330809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338 231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77840" y="3282696"/>
            <a:ext cx="22860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77840" y="330809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395 363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63840" y="3282696"/>
            <a:ext cx="18288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0" y="330809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132.9%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92640" y="3282696"/>
            <a:ext cx="18288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92640" y="330809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+6.8%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3666744"/>
            <a:ext cx="274320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3692144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LightGBM + lags + holidays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91840" y="3666744"/>
            <a:ext cx="228600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91840" y="369214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318 741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77840" y="3666744"/>
            <a:ext cx="228600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0" y="369214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416 501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863840" y="3666744"/>
            <a:ext cx="182880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863840" y="369214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148.0%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92640" y="3666744"/>
            <a:ext cx="182880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92640" y="369214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+12.2%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4206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LightGBM + Calendrier Algerien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" y="46177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20 features : lags(1,7,14,28), rolling stats, calendrier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Islamiques : Ramadan, Aid el-Fitr, Aid el-Adha, Mawlid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Nationaux : 1er jan, Yennayer, 1er mai, 5 juil, 1er nov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is_weekend = ven-sam + jours feries islamiques + nationaux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Prevision recursive multi-step (pas de fuite)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4 series : global + 3 categories produit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17920" y="4160520"/>
            <a:ext cx="5212080" cy="2377440"/>
          </a:xfrm>
          <a:prstGeom prst="roundRect">
            <a:avLst/>
          </a:prstGeom>
          <a:solidFill>
            <a:srgbClr val="D5E8D4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0800" y="42062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Pourquoi LightGBM ?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0" y="452628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Meilleur MAE : 318 741 DZD (+12.2% vs baseline)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Supporte les covariables (calendrier algerien)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Modeles fondamentaux (Chronos, TimesFM, MOIRAI)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= zero-shot sans covariables -&gt; inadaptes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714 jours favorisent LightGBM vs deep learning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12/16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API REST : Endpoints du Module ML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7F8C8D"/>
                </a:solidFill>
                <a:latin typeface="Calibri"/>
              </a:defRPr>
            </a:pPr>
            <a:r>
              <a:t>FastAPI (Python) - 15 endpoints - Port 8001  |  PHP Backend - Port 8000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2011680" cy="4114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28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103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POST /api/predict/order-risk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377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POST /api/predict/order-risk/batch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651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/api/predict/model-info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200400"/>
            <a:ext cx="2011680" cy="411480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225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Segmentation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2004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/api/segment/customers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4747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/api/segment/summary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97680"/>
            <a:ext cx="2011680" cy="4114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3230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Prevision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2976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/api/forecast/demand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45720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/api/forecast/categories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394960"/>
            <a:ext cx="2011680" cy="4114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420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Reentrainement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394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POST /api/v1/ai/retrain (depuis BDD)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5669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POST /api/retrain/upload-and-train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5943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POST /api/retrain/restore-defaults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0" y="2103120"/>
            <a:ext cx="3931920" cy="41148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219456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86C1"/>
                </a:solidFill>
                <a:latin typeface="Calibri"/>
              </a:defRPr>
            </a:pPr>
            <a:r>
              <a:t>Exemple de reponse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256032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7AE60"/>
                </a:solidFill>
                <a:latin typeface="Consolas"/>
              </a:defRPr>
            </a:pPr>
            <a:r>
              <a:t>{</a:t>
            </a:r>
            <a:br/>
            <a:r>
              <a:t>  "score": 67.9,</a:t>
            </a:r>
            <a:br/>
            <a:r>
              <a:t>  "category": "medium",</a:t>
            </a:r>
            <a:br/>
            <a:r>
              <a:t>  "success_probability": 0.68,</a:t>
            </a:r>
            <a:br/>
            <a:r>
              <a:t>  "reasons": [</a:t>
            </a:r>
            <a:br/>
            <a:r>
              <a:t>    "Region: low success",</a:t>
            </a:r>
            <a:br/>
            <a:r>
              <a:t>    "Category: high return"</a:t>
            </a:r>
            <a:br/>
            <a:r>
              <a:t>  ],</a:t>
            </a:r>
            <a:br/>
            <a:r>
              <a:t>  "recommendation":</a:t>
            </a:r>
            <a:br/>
            <a:r>
              <a:t>    "Monitor closely",</a:t>
            </a:r>
            <a:br/>
            <a:r>
              <a:t>  "model_scores": {</a:t>
            </a:r>
            <a:br/>
            <a:r>
              <a:t>    "catboost": 92.1,</a:t>
            </a:r>
            <a:br/>
            <a:r>
              <a:t>    "lightgbm": 12.7,</a:t>
            </a:r>
            <a:br/>
            <a:r>
              <a:t>    "xgboost": 99.0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13/16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Reentrainement et Mise en Production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5486400" cy="45720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Pipeline de reentrainement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1. Clic sur 'Reentrainer depuis la base de donnees'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2. Extraction automatique des commandes (PHP -&gt; CSV)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3. Backup automatique des modeles actuels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4. Optimisation Optuna (40 essais bayesiens)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5. Entrainement des 3 modeles (params optimises)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6. Sauvegarde metriques + parametres optimaux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7. Rechargement automatique dans le service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8. Rollback possible via restore-defaults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486400" cy="210312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Modeles et metriques sauvegardes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7744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risk_ensemble.joblib (7.6 MB) - Ensemble CatBoost+LightGBM+XGBoost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segmenter.joblib (9.7 MB) - HDBSCAN ou KMeans (adaptatif)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forecaster_lgbm.joblib (1.8 MB) - LightGBM + calendrier islamique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metrics.json (4 KB) - Toutes les metriques d'evaluation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114800"/>
            <a:ext cx="5486400" cy="22860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206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86C1"/>
                </a:solidFill>
                <a:latin typeface="Calibri"/>
              </a:defRPr>
            </a:pPr>
            <a:r>
              <a:t>2 methodes de reentrainement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57200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00">
                <a:solidFill>
                  <a:srgbClr val="F2F3F4"/>
                </a:solidFill>
                <a:latin typeface="Calibri"/>
              </a:defRPr>
            </a:pPr>
            <a:r>
              <a:t>Methode 1 (recommandee) : depuis la base de donnees</a:t>
            </a:r>
          </a:p>
          <a:p>
            <a:pPr>
              <a:spcAft>
                <a:spcPts val="100"/>
              </a:spcAft>
              <a:defRPr sz="1100">
                <a:solidFill>
                  <a:srgbClr val="F2F3F4"/>
                </a:solidFill>
                <a:latin typeface="Calibri"/>
              </a:defRPr>
            </a:pPr>
            <a:r>
              <a:t>  -&gt; POST /api/v1/ai/retrain (un clic, automatique)</a:t>
            </a:r>
          </a:p>
          <a:p>
            <a:pPr>
              <a:spcAft>
                <a:spcPts val="100"/>
              </a:spcAft>
              <a:defRPr sz="1100">
                <a:solidFill>
                  <a:srgbClr val="F2F3F4"/>
                </a:solidFill>
                <a:latin typeface="Calibri"/>
              </a:defRPr>
            </a:pPr>
            <a:r>
              <a:t>Methode 2 : upload CSV personnalise</a:t>
            </a:r>
          </a:p>
          <a:p>
            <a:pPr>
              <a:spcAft>
                <a:spcPts val="100"/>
              </a:spcAft>
              <a:defRPr sz="1100">
                <a:solidFill>
                  <a:srgbClr val="F2F3F4"/>
                </a:solidFill>
                <a:latin typeface="Calibri"/>
              </a:defRPr>
            </a:pPr>
            <a:r>
              <a:t>  -&gt; POST /api/retrain/upload-and-train</a:t>
            </a:r>
          </a:p>
          <a:p>
            <a:pPr>
              <a:spcAft>
                <a:spcPts val="100"/>
              </a:spcAft>
              <a:defRPr sz="1100">
                <a:solidFill>
                  <a:srgbClr val="F2F3F4"/>
                </a:solidFill>
                <a:latin typeface="Calibri"/>
              </a:defRPr>
            </a:pPr>
            <a:r>
              <a:t>Optuna auto-optimise les hyperparametres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14/16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Securite et Workflow Automatise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5486400" cy="438912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392B"/>
                </a:solidFill>
                <a:latin typeface="Calibri"/>
              </a:defRPr>
            </a:pPr>
            <a:r>
              <a:t>Mesures de securite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Authentification : JWT + RBAC (6 roles) + cle API ML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Injection SQL : Requetes preparees (PDO parametrisees)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CSRF : Header X-Requested-With obligatoire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Rate Limiting : 5 req/min (auth), 60/min (general)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Upload : Limite 50 Mo, validation MIME, anti-path traversal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Debug : APP_DEBUG=false en production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Multi-tenant : Isolation stricte par store_id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486400" cy="22860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Actions de workflow automatisees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2331720"/>
            <a:ext cx="1097280" cy="3200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35000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Score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0" y="2331720"/>
            <a:ext cx="1371600" cy="3200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0" y="23500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69680" y="2331720"/>
            <a:ext cx="2651760" cy="3200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0" y="235000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Description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697480"/>
            <a:ext cx="10972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722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70-100%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2722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2C3E50"/>
                </a:solidFill>
                <a:latin typeface="Calibri"/>
              </a:defRPr>
            </a:pPr>
            <a:r>
              <a:t>Auto-Approve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7228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Risque faible - traitement auto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063240"/>
            <a:ext cx="10972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0886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67E22"/>
                </a:solidFill>
                <a:latin typeface="Calibri"/>
              </a:defRPr>
            </a:pPr>
            <a:r>
              <a:t>30-70%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30886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2C3E50"/>
                </a:solidFill>
                <a:latin typeface="Calibri"/>
              </a:defRPr>
            </a:pPr>
            <a:r>
              <a:t>Revue manuelle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30886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Verification humaine requise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429000"/>
            <a:ext cx="10972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34544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0-30%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3454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2C3E50"/>
                </a:solidFill>
                <a:latin typeface="Calibri"/>
              </a:defRPr>
            </a:pPr>
            <a:r>
              <a:t>Signalement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345440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Rejet recommande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4297680"/>
            <a:ext cx="5486400" cy="1920240"/>
          </a:xfrm>
          <a:prstGeom prst="round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43891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7E22"/>
                </a:solidFill>
                <a:latin typeface="Calibri"/>
              </a:defRPr>
            </a:pPr>
            <a:r>
              <a:t>Seuil optimal : Youden's J statistic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75488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00">
                <a:solidFill>
                  <a:srgbClr val="2C3E50"/>
                </a:solidFill>
                <a:latin typeface="Calibri"/>
              </a:defRPr>
            </a:pPr>
            <a:r>
              <a:t>J = Sensibilite + Specificite - 1</a:t>
            </a:r>
          </a:p>
          <a:p>
            <a:pPr>
              <a:spcAft>
                <a:spcPts val="100"/>
              </a:spcAft>
              <a:defRPr sz="1100">
                <a:solidFill>
                  <a:srgbClr val="2C3E50"/>
                </a:solidFill>
                <a:latin typeface="Calibri"/>
              </a:defRPr>
            </a:pPr>
            <a:r>
              <a:t>Maximise simultanement vrais positifs et negatifs</a:t>
            </a:r>
          </a:p>
          <a:p>
            <a:pPr>
              <a:spcAft>
                <a:spcPts val="100"/>
              </a:spcAft>
              <a:defRPr sz="1100">
                <a:solidFill>
                  <a:srgbClr val="2C3E50"/>
                </a:solidFill>
                <a:latin typeface="Calibri"/>
              </a:defRPr>
            </a:pPr>
            <a:r>
              <a:t>Adapte au desequilibre de classes (2-3% echecs)</a:t>
            </a:r>
          </a:p>
          <a:p>
            <a:pPr>
              <a:spcAft>
                <a:spcPts val="100"/>
              </a:spcAft>
              <a:defRPr sz="1100">
                <a:solidFill>
                  <a:srgbClr val="2C3E50"/>
                </a:solidFill>
                <a:latin typeface="Calibri"/>
              </a:defRPr>
            </a:pPr>
            <a:r>
              <a:t>Seuil calcule : 0.9805 (cours ROC)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15/16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Conclusion et Perspectives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F2F3F4"/>
                </a:solidFill>
                <a:latin typeface="Calibri"/>
              </a:defRPr>
            </a:pPr>
            <a:r>
              <a:t>CRM complet : 12 tables, 11 modules, multi-tenant</a:t>
            </a:r>
          </a:p>
          <a:p>
            <a:pPr>
              <a:spcAft>
                <a:spcPts val="300"/>
              </a:spcAft>
              <a:defRPr sz="1400">
                <a:solidFill>
                  <a:srgbClr val="F2F3F4"/>
                </a:solidFill>
                <a:latin typeface="Calibri"/>
              </a:defRPr>
            </a:pPr>
            <a:r>
              <a:t>Ensemble ML (AUC=0.9961) : seuil Youden optimal, rappel echecs 98%</a:t>
            </a:r>
          </a:p>
          <a:p>
            <a:pPr>
              <a:spcAft>
                <a:spcPts val="300"/>
              </a:spcAft>
              <a:defRPr sz="1400">
                <a:solidFill>
                  <a:srgbClr val="F2F3F4"/>
                </a:solidFill>
                <a:latin typeface="Calibri"/>
              </a:defRPr>
            </a:pPr>
            <a:r>
              <a:t>Workflow automatise : auto-approve / revue manuelle / signalement</a:t>
            </a:r>
          </a:p>
          <a:p>
            <a:pPr>
              <a:spcAft>
                <a:spcPts val="300"/>
              </a:spcAft>
              <a:defRPr sz="1400">
                <a:solidFill>
                  <a:srgbClr val="F2F3F4"/>
                </a:solidFill>
                <a:latin typeface="Calibri"/>
              </a:defRPr>
            </a:pPr>
            <a:r>
              <a:t>Segmentation hybride HDBSCAN/KMeans adaptative selon taille BDD</a:t>
            </a:r>
          </a:p>
          <a:p>
            <a:pPr>
              <a:spcAft>
                <a:spcPts val="300"/>
              </a:spcAft>
              <a:defRPr sz="1400">
                <a:solidFill>
                  <a:srgbClr val="F2F3F4"/>
                </a:solidFill>
                <a:latin typeface="Calibri"/>
              </a:defRPr>
            </a:pPr>
            <a:r>
              <a:t>Prevision LightGBM + Calendrier algerien + date de depart flexible</a:t>
            </a:r>
          </a:p>
          <a:p>
            <a:pPr>
              <a:spcAft>
                <a:spcPts val="300"/>
              </a:spcAft>
              <a:defRPr sz="1400">
                <a:solidFill>
                  <a:srgbClr val="F2F3F4"/>
                </a:solidFill>
                <a:latin typeface="Calibri"/>
              </a:defRPr>
            </a:pPr>
            <a:r>
              <a:t>Securite : JWT+RBAC, rate limiting, CSRF, requetes preparees</a:t>
            </a:r>
          </a:p>
          <a:p>
            <a:pPr>
              <a:spcAft>
                <a:spcPts val="300"/>
              </a:spcAft>
              <a:defRPr sz="1400">
                <a:solidFill>
                  <a:srgbClr val="F2F3F4"/>
                </a:solidFill>
                <a:latin typeface="Calibri"/>
              </a:defRPr>
            </a:pPr>
            <a:r>
              <a:t>Interface multilingue (AR/FR/EN + RTL) + LLM Gemini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67E22"/>
                </a:solidFill>
                <a:latin typeface="Calibri"/>
              </a:defRPr>
            </a:pPr>
            <a:r>
              <a:t>Perspectives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F2F3F4"/>
                </a:solidFill>
                <a:latin typeface="Calibri"/>
              </a:defRPr>
            </a:pPr>
            <a:r>
              <a:t>Deploiement sur donnees reelles algeriennes</a:t>
            </a:r>
          </a:p>
          <a:p>
            <a:pPr>
              <a:spcAft>
                <a:spcPts val="300"/>
              </a:spcAft>
              <a:defRPr sz="1400">
                <a:solidFill>
                  <a:srgbClr val="F2F3F4"/>
                </a:solidFill>
                <a:latin typeface="Calibri"/>
              </a:defRPr>
            </a:pPr>
            <a:r>
              <a:t>Evenements commerciaux (rentree, promotions)</a:t>
            </a:r>
          </a:p>
          <a:p>
            <a:pPr>
              <a:spcAft>
                <a:spcPts val="300"/>
              </a:spcAft>
              <a:defRPr sz="1400">
                <a:solidFill>
                  <a:srgbClr val="F2F3F4"/>
                </a:solidFill>
                <a:latin typeface="Calibri"/>
              </a:defRPr>
            </a:pPr>
            <a:r>
              <a:t>Apprentissage en ligne (mise a jour continue)</a:t>
            </a:r>
          </a:p>
          <a:p>
            <a:pPr>
              <a:spcAft>
                <a:spcPts val="300"/>
              </a:spcAft>
              <a:defRPr sz="1400">
                <a:solidFill>
                  <a:srgbClr val="F2F3F4"/>
                </a:solidFill>
                <a:latin typeface="Calibri"/>
              </a:defRPr>
            </a:pPr>
            <a:r>
              <a:t>A/B testing de l'impact des recommandations ML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5029200"/>
            <a:ext cx="5760720" cy="13716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521208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Merci pour votre attention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57607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2F3F4"/>
                </a:solidFill>
                <a:latin typeface="Calibri"/>
              </a:defRPr>
            </a:pPr>
            <a:r>
              <a:t>Questions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16/16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