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2F3F4"/>
                </a:solidFill>
                <a:latin typeface="Calibri"/>
              </a:defRPr>
            </a:pPr>
            <a:r>
              <a:t>Conception et Developpement d'un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  <a:latin typeface="Calibri"/>
              </a:defRPr>
            </a:pPr>
            <a:r>
              <a:t>CRM Intelligent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2F3F4"/>
                </a:solidFill>
                <a:latin typeface="Calibri"/>
              </a:defRPr>
            </a:pPr>
            <a:r>
              <a:t>Integrant un Module de Prediction des Ventes</a:t>
            </a:r>
            <a:br/>
            <a:r>
              <a:t>Base sur le Machine Learning pour le E-Commerce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0" y="4206240"/>
            <a:ext cx="3931920" cy="254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4805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7F8C8D"/>
                </a:solidFill>
                <a:latin typeface="Calibri"/>
              </a:defRPr>
            </a:pPr>
            <a:r>
              <a:t>Entreprise : BAT PROJET ENGINEERING  |  Represente par Mr. ATALLAH Mohammed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029200"/>
            <a:ext cx="5486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2F3F4"/>
                </a:solidFill>
                <a:latin typeface="Calibri"/>
              </a:defRPr>
            </a:pPr>
            <a:r>
              <a:t>Rezaiguia Soltane Tadj Eddine (DS)    Bellatreche Mohamed Amine (DS)</a:t>
            </a:r>
            <a:br/>
            <a:r>
              <a:t>Khelifi Ayyoub (CS)    Brahim Soheib (AI)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502920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2F3F4"/>
                </a:solidFill>
                <a:latin typeface="Calibri"/>
              </a:defRPr>
            </a:pPr>
            <a:r>
              <a:t>Encadre par : Dr. Khellat Souad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7F8C8D"/>
                </a:solidFill>
                <a:latin typeface="Calibri"/>
              </a:defRPr>
            </a:pPr>
            <a:r>
              <a:t>Projet de Fin d'Etudes  |  Specialite : Data Science  |  Annee 2024-2025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B3A5C"/>
                </a:solidFill>
                <a:latin typeface="Calibri"/>
              </a:defRPr>
            </a:pPr>
            <a:r>
              <a:t>Plan de la Presentation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63040"/>
            <a:ext cx="1371600" cy="508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14400" y="1920240"/>
            <a:ext cx="502920" cy="502920"/>
          </a:xfrm>
          <a:prstGeom prst="ellipse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18948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3A5C"/>
                </a:solidFill>
                <a:latin typeface="Calibri"/>
              </a:defRPr>
            </a:pPr>
            <a:r>
              <a:t>Contexte et Problematique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2174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F8C8D"/>
                </a:solidFill>
                <a:latin typeface="Calibri"/>
              </a:defRPr>
            </a:pPr>
            <a:r>
              <a:t>E-commerce COD en Algerie, defis, objectifs</a:t>
            </a:r>
          </a:p>
        </p:txBody>
      </p:sp>
      <p:sp>
        <p:nvSpPr>
          <p:cNvPr id="8" name="Oval 7"/>
          <p:cNvSpPr/>
          <p:nvPr/>
        </p:nvSpPr>
        <p:spPr>
          <a:xfrm>
            <a:off x="914400" y="2697480"/>
            <a:ext cx="502920" cy="502920"/>
          </a:xfrm>
          <a:prstGeom prst="ellipse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6720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3A5C"/>
                </a:solidFill>
                <a:latin typeface="Calibri"/>
              </a:defRPr>
            </a:pPr>
            <a:r>
              <a:t>Architecture du Systeme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9514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F8C8D"/>
                </a:solidFill>
                <a:latin typeface="Calibri"/>
              </a:defRPr>
            </a:pPr>
            <a:r>
              <a:t>Architecture globale, base de donnees, microservices</a:t>
            </a:r>
          </a:p>
        </p:txBody>
      </p:sp>
      <p:sp>
        <p:nvSpPr>
          <p:cNvPr id="11" name="Oval 10"/>
          <p:cNvSpPr/>
          <p:nvPr/>
        </p:nvSpPr>
        <p:spPr>
          <a:xfrm>
            <a:off x="914400" y="3474720"/>
            <a:ext cx="502920" cy="502920"/>
          </a:xfrm>
          <a:prstGeom prst="ellipse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34493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3A5C"/>
                </a:solidFill>
                <a:latin typeface="Calibri"/>
              </a:defRPr>
            </a:pPr>
            <a:r>
              <a:t>Integration 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37287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F8C8D"/>
                </a:solidFill>
                <a:latin typeface="Calibri"/>
              </a:defRPr>
            </a:pPr>
            <a:r>
              <a:t>Flux IA, pipeline ML, cycle de vie commande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251960"/>
            <a:ext cx="502920" cy="502920"/>
          </a:xfrm>
          <a:prstGeom prst="ellipse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42265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3A5C"/>
                </a:solidFill>
                <a:latin typeface="Calibri"/>
              </a:defRPr>
            </a:pPr>
            <a:r>
              <a:t>Modeles de Machine Learning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45059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F8C8D"/>
                </a:solidFill>
                <a:latin typeface="Calibri"/>
              </a:defRPr>
            </a:pPr>
            <a:r>
              <a:t>Risk scoring, segmentation, prevision demande</a:t>
            </a:r>
          </a:p>
        </p:txBody>
      </p:sp>
      <p:sp>
        <p:nvSpPr>
          <p:cNvPr id="17" name="Oval 16"/>
          <p:cNvSpPr/>
          <p:nvPr/>
        </p:nvSpPr>
        <p:spPr>
          <a:xfrm>
            <a:off x="914400" y="5029200"/>
            <a:ext cx="502920" cy="502920"/>
          </a:xfrm>
          <a:prstGeom prst="ellipse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50038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3A5C"/>
                </a:solidFill>
                <a:latin typeface="Calibri"/>
              </a:defRPr>
            </a:pPr>
            <a:r>
              <a:t>Resultats et Evaluation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52832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F8C8D"/>
                </a:solidFill>
                <a:latin typeface="Calibri"/>
              </a:defRPr>
            </a:pPr>
            <a:r>
              <a:t>Comparaison des modeles, metriques, interpretation</a:t>
            </a:r>
          </a:p>
        </p:txBody>
      </p:sp>
      <p:sp>
        <p:nvSpPr>
          <p:cNvPr id="20" name="Oval 19"/>
          <p:cNvSpPr/>
          <p:nvPr/>
        </p:nvSpPr>
        <p:spPr>
          <a:xfrm>
            <a:off x="914400" y="5806440"/>
            <a:ext cx="502920" cy="502920"/>
          </a:xfrm>
          <a:prstGeom prst="ellipse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57810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3A5C"/>
                </a:solidFill>
                <a:latin typeface="Calibri"/>
              </a:defRPr>
            </a:pPr>
            <a:r>
              <a:t>Demonstration API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45920" y="60604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F8C8D"/>
                </a:solidFill>
                <a:latin typeface="Calibri"/>
              </a:defRPr>
            </a:pPr>
            <a:r>
              <a:t>Endpoints, exemples de requetes/reponses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2/15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B3A5C"/>
                </a:solidFill>
                <a:latin typeface="Calibri"/>
              </a:defRPr>
            </a:pPr>
            <a:r>
              <a:t>Contexte et Problematique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63040"/>
            <a:ext cx="1371600" cy="508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5303520" cy="4389120"/>
          </a:xfrm>
          <a:prstGeom prst="roundRect">
            <a:avLst/>
          </a:prstGeom>
          <a:solidFill>
            <a:srgbClr val="F2F3F4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86C1"/>
                </a:solidFill>
                <a:latin typeface="Calibri"/>
              </a:defRPr>
            </a:pPr>
            <a:r>
              <a:t>Le modele COD en Algerie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468880"/>
            <a:ext cx="47548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Calibri"/>
              </a:defRPr>
            </a:pPr>
            <a:r>
              <a:t>90%+ des transactions en Cash-on-Delivery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Calibri"/>
              </a:defRPr>
            </a:pPr>
            <a:r>
              <a:t>58 wilayas, 3 zones d'expedition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Calibri"/>
              </a:defRPr>
            </a:pPr>
            <a:r>
              <a:t>Monnaie : Dinar Algerien (DZD)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Calibri"/>
              </a:defRPr>
            </a:pPr>
            <a:r>
              <a:t>Population jeune et connectee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28800"/>
            <a:ext cx="5303520" cy="4389120"/>
          </a:xfrm>
          <a:prstGeom prst="roundRect">
            <a:avLst/>
          </a:prstGeom>
          <a:solidFill>
            <a:srgbClr val="F2F3F4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C0392B"/>
                </a:solidFill>
                <a:latin typeface="Calibri"/>
              </a:defRPr>
            </a:pPr>
            <a:r>
              <a:t>Problematique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68880"/>
            <a:ext cx="47548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Calibri"/>
              </a:defRPr>
            </a:pPr>
            <a:r>
              <a:t>30-50% des commandes echouent (retour, refus, absence)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Calibri"/>
              </a:defRPr>
            </a:pPr>
            <a:r>
              <a:t>Couts de transport aller-retour sans recette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Calibri"/>
              </a:defRPr>
            </a:pPr>
            <a:r>
              <a:t>Confirmations telephoniques manuelles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Calibri"/>
              </a:defRPr>
            </a:pPr>
            <a:r>
              <a:t>Aucune capacite predictive dans les CRM actuels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5669280"/>
            <a:ext cx="10881360" cy="73152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576072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Objectif : Integrer le Machine Learning dans le CRM pour transformer les donnees en decisions actionnables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3/15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B3A5C"/>
                </a:solidFill>
                <a:latin typeface="Calibri"/>
              </a:defRPr>
            </a:pPr>
            <a:r>
              <a:t>Architecture Globale du Systeme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63040"/>
            <a:ext cx="1371600" cy="508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rchitecture_globale.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737360"/>
            <a:ext cx="9418320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4/15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B3A5C"/>
                </a:solidFill>
                <a:latin typeface="Calibri"/>
              </a:defRPr>
            </a:pPr>
            <a:r>
              <a:t>Schema Relationnel de la Base de Donnees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63040"/>
            <a:ext cx="1371600" cy="508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F8C8D"/>
                </a:solidFill>
                <a:latin typeface="Calibri"/>
              </a:defRPr>
            </a:pPr>
            <a:r>
              <a:t>12 tables  |  Architecture multi-tenant (store_id)  |  MySQL 8.0  |  UTF8MB4</a:t>
            </a:r>
          </a:p>
        </p:txBody>
      </p:sp>
      <p:pic>
        <p:nvPicPr>
          <p:cNvPr id="6" name="Picture 5" descr="schema_base_donnees.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11680"/>
            <a:ext cx="11247120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5/15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B3A5C"/>
                </a:solidFill>
                <a:latin typeface="Calibri"/>
              </a:defRPr>
            </a:pPr>
            <a:r>
              <a:t>Integration IA dans le CRM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63040"/>
            <a:ext cx="1371600" cy="508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i_integration.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737360"/>
            <a:ext cx="10698480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6/15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B3A5C"/>
                </a:solidFill>
                <a:latin typeface="Calibri"/>
              </a:defRPr>
            </a:pPr>
            <a:r>
              <a:t>Pipeline Machine Learning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63040"/>
            <a:ext cx="1371600" cy="508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l_pipeline.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737360"/>
            <a:ext cx="10698480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7/15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B3A5C"/>
                </a:solidFill>
                <a:latin typeface="Calibri"/>
              </a:defRPr>
            </a:pPr>
            <a:r>
              <a:t>Cycle de Vie d'une Commande COD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63040"/>
            <a:ext cx="1371600" cy="508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ycle_vie_commande.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737360"/>
            <a:ext cx="10698480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8/15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B3A5C"/>
                </a:solidFill>
                <a:latin typeface="Calibri"/>
              </a:defRPr>
            </a:pPr>
            <a:r>
              <a:t>Prediction du Risque de Livraison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63040"/>
            <a:ext cx="1371600" cy="508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C3E50"/>
                </a:solidFill>
                <a:latin typeface="Calibri"/>
              </a:defRPr>
            </a:pPr>
            <a:r>
              <a:t>Classification binaire : predire si une commande sera livree (y=1) ou echouera (y=0)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560320"/>
            <a:ext cx="2103120" cy="1371600"/>
          </a:xfrm>
          <a:prstGeom prst="roundRect">
            <a:avLst/>
          </a:prstGeom>
          <a:solidFill>
            <a:srgbClr val="F2F3F4"/>
          </a:solidFill>
          <a:ln w="254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1680" y="265176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2E86C1"/>
                </a:solidFill>
                <a:latin typeface="Calibri"/>
              </a:defRPr>
            </a:pPr>
            <a:r>
              <a:t>Temporelles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1680" y="3017520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F8C8D"/>
                </a:solidFill>
                <a:latin typeface="Calibri"/>
              </a:defRPr>
            </a:pPr>
            <a:r>
              <a:t>4 features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1680" y="333756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C3E50"/>
                </a:solidFill>
                <a:latin typeface="Calibri"/>
              </a:defRPr>
            </a:pPr>
            <a:r>
              <a:t>Heure, jour, mois, weekend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80360" y="2560320"/>
            <a:ext cx="2103120" cy="1371600"/>
          </a:xfrm>
          <a:prstGeom prst="roundRect">
            <a:avLst/>
          </a:prstGeom>
          <a:solidFill>
            <a:srgbClr val="F2F3F4"/>
          </a:solidFill>
          <a:ln w="254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81960" y="265176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27AE60"/>
                </a:solidFill>
                <a:latin typeface="Calibri"/>
              </a:defRPr>
            </a:pPr>
            <a:r>
              <a:t>Valeur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81960" y="3017520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F8C8D"/>
                </a:solidFill>
                <a:latin typeface="Calibri"/>
              </a:defRPr>
            </a:pPr>
            <a:r>
              <a:t>4 features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81960" y="333756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C3E50"/>
                </a:solidFill>
                <a:latin typeface="Calibri"/>
              </a:defRPr>
            </a:pPr>
            <a:r>
              <a:t>Montant, frais, remise, sous-total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20640" y="2560320"/>
            <a:ext cx="2103120" cy="1371600"/>
          </a:xfrm>
          <a:prstGeom prst="roundRect">
            <a:avLst/>
          </a:prstGeom>
          <a:solidFill>
            <a:srgbClr val="F2F3F4"/>
          </a:solidFill>
          <a:ln w="2540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22240" y="265176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E67E22"/>
                </a:solidFill>
                <a:latin typeface="Calibri"/>
              </a:defRPr>
            </a:pPr>
            <a:r>
              <a:t>Produit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22240" y="3017520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F8C8D"/>
                </a:solidFill>
                <a:latin typeface="Calibri"/>
              </a:defRPr>
            </a:pPr>
            <a:r>
              <a:t>1 feature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22240" y="333756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C3E50"/>
                </a:solidFill>
                <a:latin typeface="Calibri"/>
              </a:defRPr>
            </a:pPr>
            <a:r>
              <a:t>Nombre d'articles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60920" y="2560320"/>
            <a:ext cx="2103120" cy="1371600"/>
          </a:xfrm>
          <a:prstGeom prst="roundRect">
            <a:avLst/>
          </a:prstGeom>
          <a:solidFill>
            <a:srgbClr val="F2F3F4"/>
          </a:solidFill>
          <a:ln w="25400">
            <a:solidFill>
              <a:srgbClr val="8E44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62520" y="265176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8E44AD"/>
                </a:solidFill>
                <a:latin typeface="Calibri"/>
              </a:defRPr>
            </a:pPr>
            <a:r>
              <a:t>Client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62520" y="3017520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F8C8D"/>
                </a:solidFill>
                <a:latin typeface="Calibri"/>
              </a:defRPr>
            </a:pPr>
            <a:r>
              <a:t>4 features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62520" y="333756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C3E50"/>
                </a:solidFill>
                <a:latin typeface="Calibri"/>
              </a:defRPr>
            </a:pPr>
            <a:r>
              <a:t>Historique, taux succes, recurrence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01200" y="2560320"/>
            <a:ext cx="2103120" cy="1371600"/>
          </a:xfrm>
          <a:prstGeom prst="roundRect">
            <a:avLst/>
          </a:prstGeom>
          <a:solidFill>
            <a:srgbClr val="F2F3F4"/>
          </a:solidFill>
          <a:ln w="254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02800" y="265176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C0392B"/>
                </a:solidFill>
                <a:latin typeface="Calibri"/>
              </a:defRPr>
            </a:pPr>
            <a:r>
              <a:t>Contexte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02800" y="3017520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F8C8D"/>
                </a:solidFill>
                <a:latin typeface="Calibri"/>
              </a:defRPr>
            </a:pPr>
            <a:r>
              <a:t>4 features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02800" y="333756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C3E50"/>
                </a:solidFill>
                <a:latin typeface="Calibri"/>
              </a:defRPr>
            </a:pPr>
            <a:r>
              <a:t>Taux regional, categorie, delai, poids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42062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3A5C"/>
                </a:solidFill>
                <a:latin typeface="Calibri"/>
              </a:defRPr>
            </a:pPr>
            <a:r>
              <a:t>Ensemble par vote pondere (Soft Voting) de 3 modeles :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4754880"/>
            <a:ext cx="3474720" cy="137160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1680" y="484632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CatBoost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1680" y="5303520"/>
            <a:ext cx="3291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2F3F4"/>
                </a:solidFill>
                <a:latin typeface="Calibri"/>
              </a:defRPr>
            </a:pPr>
            <a:r>
              <a:t>Gestion native des</a:t>
            </a:r>
            <a:br/>
            <a:r>
              <a:t>variables categorielles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9119" y="4754880"/>
            <a:ext cx="3474720" cy="137160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90719" y="484632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LightGBM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90719" y="5303520"/>
            <a:ext cx="3291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2F3F4"/>
                </a:solidFill>
                <a:latin typeface="Calibri"/>
              </a:defRPr>
            </a:pPr>
            <a:r>
              <a:t>GOSS + EFB</a:t>
            </a:r>
            <a:br/>
            <a:r>
              <a:t>Croissance leaf-wise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38158" y="4754880"/>
            <a:ext cx="3474720" cy="137160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39758" y="484632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XGBoost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39758" y="5303520"/>
            <a:ext cx="3291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2F3F4"/>
                </a:solidFill>
                <a:latin typeface="Calibri"/>
              </a:defRPr>
            </a:pPr>
            <a:r>
              <a:t>Regularisation L1/L2</a:t>
            </a:r>
            <a:br/>
            <a:r>
              <a:t>Optimisation Newton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9/15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B3A5C"/>
                </a:solidFill>
                <a:latin typeface="Calibri"/>
              </a:defRPr>
            </a:pPr>
            <a:r>
              <a:t>Resultats : Comparaison des Modeles de Classification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63040"/>
            <a:ext cx="1371600" cy="508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F8C8D"/>
                </a:solidFill>
                <a:latin typeface="Calibri"/>
              </a:defRPr>
            </a:pPr>
            <a:r>
              <a:t>Ensemble de test : 19 889 echantillons (80/20 split stratifie)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2011680" cy="4572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130552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Modele</a:t>
            </a:r>
          </a:p>
        </p:txBody>
      </p:sp>
      <p:sp>
        <p:nvSpPr>
          <p:cNvPr id="8" name="Rectangle 7"/>
          <p:cNvSpPr/>
          <p:nvPr/>
        </p:nvSpPr>
        <p:spPr>
          <a:xfrm>
            <a:off x="2834640" y="2103120"/>
            <a:ext cx="1554480" cy="4572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2130552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AUC-ROC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0" y="2103120"/>
            <a:ext cx="1554480" cy="4572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0" y="2130552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Accuracy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0" y="2103120"/>
            <a:ext cx="1554480" cy="4572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0" y="2130552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Precision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80" y="2103120"/>
            <a:ext cx="1554480" cy="4572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0" y="2130552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Rappel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52560" y="2103120"/>
            <a:ext cx="1554480" cy="4572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52560" y="2130552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F1-Score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2560320"/>
            <a:ext cx="2011680" cy="457200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259842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CatBoost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834640" y="2560320"/>
            <a:ext cx="1554480" cy="457200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834640" y="25984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1.0000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120" y="2560320"/>
            <a:ext cx="1554480" cy="457200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89120" y="25984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0.9982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0" y="2560320"/>
            <a:ext cx="1554480" cy="457200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0" y="25984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0.9999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498080" y="2560320"/>
            <a:ext cx="1554480" cy="457200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0" y="25984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0.9983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52560" y="2560320"/>
            <a:ext cx="1554480" cy="457200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52560" y="25984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0.9991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3017520"/>
            <a:ext cx="20116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305562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LightGBM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34640" y="3017520"/>
            <a:ext cx="15544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834640" y="30556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1.0000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120" y="3017520"/>
            <a:ext cx="15544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89120" y="30556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0.9983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943600" y="3017520"/>
            <a:ext cx="15544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43600" y="30556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0.9992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498080" y="3017520"/>
            <a:ext cx="15544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498080" y="30556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0.9990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052560" y="3017520"/>
            <a:ext cx="15544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052560" y="30556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0.9991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22960" y="3474720"/>
            <a:ext cx="2011680" cy="457200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2960" y="351282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XGBoost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834640" y="3474720"/>
            <a:ext cx="1554480" cy="457200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834640" y="35128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1.0000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120" y="3474720"/>
            <a:ext cx="1554480" cy="457200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389120" y="35128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0.9983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943600" y="3474720"/>
            <a:ext cx="1554480" cy="457200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943600" y="35128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0.9999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498080" y="3474720"/>
            <a:ext cx="1554480" cy="457200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498080" y="35128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0.9983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052560" y="3474720"/>
            <a:ext cx="1554480" cy="457200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052560" y="35128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0.9991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22960" y="3931920"/>
            <a:ext cx="2011680" cy="457200"/>
          </a:xfrm>
          <a:prstGeom prst="rect">
            <a:avLst/>
          </a:prstGeom>
          <a:solidFill>
            <a:srgbClr val="2E86C1"/>
          </a:solidFill>
          <a:ln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22960" y="397002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Ensemble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834640" y="3931920"/>
            <a:ext cx="1554480" cy="457200"/>
          </a:xfrm>
          <a:prstGeom prst="rect">
            <a:avLst/>
          </a:prstGeom>
          <a:solidFill>
            <a:srgbClr val="2E86C1"/>
          </a:solidFill>
          <a:ln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834640" y="39700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1.0000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89120" y="3931920"/>
            <a:ext cx="1554480" cy="457200"/>
          </a:xfrm>
          <a:prstGeom prst="rect">
            <a:avLst/>
          </a:prstGeom>
          <a:solidFill>
            <a:srgbClr val="2E86C1"/>
          </a:solidFill>
          <a:ln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389120" y="39700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0.9983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943600" y="3931920"/>
            <a:ext cx="1554480" cy="457200"/>
          </a:xfrm>
          <a:prstGeom prst="rect">
            <a:avLst/>
          </a:prstGeom>
          <a:solidFill>
            <a:srgbClr val="2E86C1"/>
          </a:solidFill>
          <a:ln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43600" y="39700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0.9998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498080" y="3931920"/>
            <a:ext cx="1554480" cy="457200"/>
          </a:xfrm>
          <a:prstGeom prst="rect">
            <a:avLst/>
          </a:prstGeom>
          <a:solidFill>
            <a:srgbClr val="2E86C1"/>
          </a:solidFill>
          <a:ln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498080" y="39700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0.9984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052560" y="3931920"/>
            <a:ext cx="1554480" cy="457200"/>
          </a:xfrm>
          <a:prstGeom prst="rect">
            <a:avLst/>
          </a:prstGeom>
          <a:solidFill>
            <a:srgbClr val="2E86C1"/>
          </a:solidFill>
          <a:ln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052560" y="39700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0.9991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22960" y="47548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3A5C"/>
                </a:solidFill>
                <a:latin typeface="Calibri"/>
              </a:defRPr>
            </a:pPr>
            <a:r>
              <a:t>Matrice de Confusion (Ensemble)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22960" y="5212080"/>
            <a:ext cx="18288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22960" y="52374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</a:p>
        </p:txBody>
      </p:sp>
      <p:sp>
        <p:nvSpPr>
          <p:cNvPr id="69" name="Rectangle 68"/>
          <p:cNvSpPr/>
          <p:nvPr/>
        </p:nvSpPr>
        <p:spPr>
          <a:xfrm>
            <a:off x="2651760" y="5212080"/>
            <a:ext cx="1828800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651760" y="52374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Predit: Echouee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80560" y="5212080"/>
            <a:ext cx="1828800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480560" y="52374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Predit: Livree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22960" y="5623560"/>
            <a:ext cx="1828800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22960" y="56489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Reel: Echouee</a:t>
            </a:r>
          </a:p>
        </p:txBody>
      </p:sp>
      <p:sp>
        <p:nvSpPr>
          <p:cNvPr id="75" name="Rectangle 74"/>
          <p:cNvSpPr/>
          <p:nvPr/>
        </p:nvSpPr>
        <p:spPr>
          <a:xfrm>
            <a:off x="2651760" y="5623560"/>
            <a:ext cx="1828800" cy="411480"/>
          </a:xfrm>
          <a:prstGeom prst="rect">
            <a:avLst/>
          </a:prstGeom>
          <a:solidFill>
            <a:srgbClr val="D5E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651760" y="56489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590 (VN)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80560" y="5623560"/>
            <a:ext cx="1828800" cy="411480"/>
          </a:xfrm>
          <a:prstGeom prst="rect">
            <a:avLst/>
          </a:prstGeom>
          <a:solidFill>
            <a:srgbClr val="F8CE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480560" y="56489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3 (FP)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22960" y="6035040"/>
            <a:ext cx="1828800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22960" y="60604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Reel: Livree</a:t>
            </a:r>
          </a:p>
        </p:txBody>
      </p:sp>
      <p:sp>
        <p:nvSpPr>
          <p:cNvPr id="81" name="Rectangle 80"/>
          <p:cNvSpPr/>
          <p:nvPr/>
        </p:nvSpPr>
        <p:spPr>
          <a:xfrm>
            <a:off x="2651760" y="6035040"/>
            <a:ext cx="1828800" cy="411480"/>
          </a:xfrm>
          <a:prstGeom prst="rect">
            <a:avLst/>
          </a:prstGeom>
          <a:solidFill>
            <a:srgbClr val="F8CE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651760" y="60604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31 (FN)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480560" y="6035040"/>
            <a:ext cx="1828800" cy="411480"/>
          </a:xfrm>
          <a:prstGeom prst="rect">
            <a:avLst/>
          </a:prstGeom>
          <a:solidFill>
            <a:srgbClr val="D5E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480560" y="60604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19 265 (VP)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6400800" y="4846320"/>
            <a:ext cx="5029200" cy="1371600"/>
          </a:xfrm>
          <a:prstGeom prst="roundRect">
            <a:avLst/>
          </a:prstGeom>
          <a:solidFill>
            <a:srgbClr val="FDF2E9"/>
          </a:solidFill>
          <a:ln w="2540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583680" y="4937760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67E22"/>
                </a:solidFill>
                <a:latin typeface="Calibri"/>
              </a:defRPr>
            </a:pPr>
            <a:r>
              <a:t>Points cles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583680" y="5303520"/>
            <a:ext cx="46634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>
                <a:solidFill>
                  <a:srgbClr val="2C3E50"/>
                </a:solidFill>
                <a:latin typeface="Calibri"/>
              </a:defRPr>
            </a:pPr>
            <a:r>
              <a:t>AUC-ROC parfait (1.0) pour les 3 modeles</a:t>
            </a:r>
          </a:p>
          <a:p>
            <a:pPr>
              <a:spcAft>
                <a:spcPts val="200"/>
              </a:spcAft>
              <a:defRPr sz="1200">
                <a:solidFill>
                  <a:srgbClr val="2C3E50"/>
                </a:solidFill>
                <a:latin typeface="Calibri"/>
              </a:defRPr>
            </a:pPr>
            <a:r>
              <a:t>Seulement 34 erreurs sur 19 889 predictions</a:t>
            </a:r>
          </a:p>
          <a:p>
            <a:pPr>
              <a:spcAft>
                <a:spcPts val="200"/>
              </a:spcAft>
              <a:defRPr sz="1200">
                <a:solidFill>
                  <a:srgbClr val="2C3E50"/>
                </a:solidFill>
                <a:latin typeface="Calibri"/>
              </a:defRPr>
            </a:pPr>
            <a:r>
              <a:t>Ensemble retenu pour sa robustesse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10/15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B3A5C"/>
                </a:solidFill>
                <a:latin typeface="Calibri"/>
              </a:defRPr>
            </a:pPr>
            <a:r>
              <a:t>Segmentation Client (HDBSCAN + RFM)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63040"/>
            <a:ext cx="1371600" cy="508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7F8C8D"/>
                </a:solidFill>
                <a:latin typeface="Calibri"/>
              </a:defRPr>
            </a:pPr>
            <a:r>
              <a:t>Analyse RFM (Recency, Frequency, Monetary) + Clustering HDBSCAN (min_cluster_size=50)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286000"/>
            <a:ext cx="2103120" cy="25603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286000"/>
            <a:ext cx="2103120" cy="4572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304288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VIP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92608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27AE60"/>
                </a:solidFill>
                <a:latin typeface="Calibri"/>
              </a:defRPr>
            </a:pPr>
            <a:r>
              <a:t>3 673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38328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7F8C8D"/>
                </a:solidFill>
                <a:latin typeface="Calibri"/>
              </a:defRPr>
            </a:pPr>
            <a:r>
              <a:t>(3.8%)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84048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Haute valeur, achats frequents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0" y="2286000"/>
            <a:ext cx="2103120" cy="25603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8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0" y="2286000"/>
            <a:ext cx="2103120" cy="457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0" y="2304288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Loyal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292608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2E86C1"/>
                </a:solidFill>
                <a:latin typeface="Calibri"/>
              </a:defRPr>
            </a:pPr>
            <a:r>
              <a:t>252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38328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7F8C8D"/>
                </a:solidFill>
                <a:latin typeface="Calibri"/>
              </a:defRPr>
            </a:pPr>
            <a:r>
              <a:t>(0.3%)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384048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Clients reguliers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0" y="2286000"/>
            <a:ext cx="2103120" cy="25603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0" y="2286000"/>
            <a:ext cx="2103120" cy="4572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0" y="2304288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A Risque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0" y="292608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E67E22"/>
                </a:solidFill>
                <a:latin typeface="Calibri"/>
              </a:defRPr>
            </a:pPr>
            <a:r>
              <a:t>2 736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0" y="338328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7F8C8D"/>
                </a:solidFill>
                <a:latin typeface="Calibri"/>
              </a:defRPr>
            </a:pPr>
            <a:r>
              <a:t>(2.8%)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0" y="384048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Declin d'activite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0" y="2286000"/>
            <a:ext cx="2103120" cy="25603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0" y="2286000"/>
            <a:ext cx="2103120" cy="4572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0" y="2304288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Perdu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0" y="292608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C0392B"/>
                </a:solidFill>
                <a:latin typeface="Calibri"/>
              </a:defRPr>
            </a:pPr>
            <a:r>
              <a:t>441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0" y="338328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7F8C8D"/>
                </a:solidFill>
                <a:latin typeface="Calibri"/>
              </a:defRPr>
            </a:pPr>
            <a:r>
              <a:t>(0.5%)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0" y="384048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Inactifs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601200" y="2286000"/>
            <a:ext cx="2103120" cy="25603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7F8C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601200" y="2286000"/>
            <a:ext cx="2103120" cy="457200"/>
          </a:xfrm>
          <a:prstGeom prst="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01200" y="2304288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Standard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0" y="292608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7F8C8D"/>
                </a:solidFill>
                <a:latin typeface="Calibri"/>
              </a:defRPr>
            </a:pPr>
            <a:r>
              <a:t>88 994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0" y="338328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7F8C8D"/>
                </a:solidFill>
                <a:latin typeface="Calibri"/>
              </a:defRPr>
            </a:pPr>
            <a:r>
              <a:t>(92.6%)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01200" y="384048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Clients occasionnels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5120640"/>
            <a:ext cx="11247120" cy="4572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5148072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Total : 96 096 clients segmentes automatiquement (sans specifier K a priori)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" y="57607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alibri"/>
              </a:defRPr>
            </a:pPr>
            <a:r>
              <a:t>Actions : VIP -&gt; Fidelite &amp; offres exclusives  |  A Risque -&gt; Campagnes de reactivation  |  Standard -&gt; Strategies de conversion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11/15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B3A5C"/>
                </a:solidFill>
                <a:latin typeface="Calibri"/>
              </a:defRPr>
            </a:pPr>
            <a:r>
              <a:t>Prevision de la Demande (Prophet)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63040"/>
            <a:ext cx="1371600" cy="508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7F8C8D"/>
                </a:solidFill>
                <a:latin typeface="Calibri"/>
              </a:defRPr>
            </a:pPr>
            <a:r>
              <a:t>Serie temporelle : Chiffre d'affaires quotidien en DZD sur 714 jours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286000"/>
            <a:ext cx="3200400" cy="50292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313432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Modele</a:t>
            </a:r>
          </a:p>
        </p:txBody>
      </p:sp>
      <p:sp>
        <p:nvSpPr>
          <p:cNvPr id="8" name="Rectangle 7"/>
          <p:cNvSpPr/>
          <p:nvPr/>
        </p:nvSpPr>
        <p:spPr>
          <a:xfrm>
            <a:off x="4023360" y="2286000"/>
            <a:ext cx="2743200" cy="50292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0" y="231343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MAE (DZD)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66560" y="2286000"/>
            <a:ext cx="2743200" cy="50292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0" y="231343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RMSE (DZD)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509760" y="2286000"/>
            <a:ext cx="2286000" cy="50292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09760" y="2313432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Amelioration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788920"/>
            <a:ext cx="3200400" cy="502920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816352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Moyenne Mobile (7j)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360" y="2788920"/>
            <a:ext cx="2743200" cy="502920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23360" y="281635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301 401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66560" y="2788920"/>
            <a:ext cx="2743200" cy="502920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0" y="281635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371 511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509760" y="2788920"/>
            <a:ext cx="2286000" cy="502920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09760" y="2816352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--- (baseline)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291840"/>
            <a:ext cx="3200400" cy="50292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3319272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Prophet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023360" y="3291840"/>
            <a:ext cx="2743200" cy="50292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023360" y="331927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265 663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766560" y="3291840"/>
            <a:ext cx="2743200" cy="50292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66560" y="331927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363 848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509760" y="3291840"/>
            <a:ext cx="2286000" cy="50292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509760" y="3319272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-11.9% MAE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4114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3A5C"/>
                </a:solidFill>
                <a:latin typeface="Calibri"/>
              </a:defRPr>
            </a:pPr>
            <a:r>
              <a:t>Configuration Prophet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457200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Saisonnalite annuelle + hebdomadaire</a:t>
            </a:r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Mode multiplicatif</a:t>
            </a:r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changepoint_prior_scale = 0.05</a:t>
            </a:r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4 modeles : global + 3 categories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4114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3A5C"/>
                </a:solidFill>
                <a:latin typeface="Calibri"/>
              </a:defRPr>
            </a:pPr>
            <a:r>
              <a:t>Modeles par categorie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457200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all (global) - CA total quotidien</a:t>
            </a:r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bed_bath_table - Linge de maison</a:t>
            </a:r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health_beauty - Sante et beaute</a:t>
            </a:r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sports_leisure - Sports et loisirs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12/15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B3A5C"/>
                </a:solidFill>
                <a:latin typeface="Calibri"/>
              </a:defRPr>
            </a:pPr>
            <a:r>
              <a:t>API REST : Endpoints du Module ML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63040"/>
            <a:ext cx="1371600" cy="508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7F8C8D"/>
                </a:solidFill>
                <a:latin typeface="Calibri"/>
              </a:defRPr>
            </a:pPr>
            <a:r>
              <a:t>FastAPI (Python) - 11 endpoints - Port 8001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2011680" cy="41148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12852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Prediction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21031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onsolas"/>
              </a:defRPr>
            </a:pPr>
            <a:r>
              <a:t>POST /api/predict/order-risk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23774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onsolas"/>
              </a:defRPr>
            </a:pPr>
            <a:r>
              <a:t>POST /api/predict/order-risk/batch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26517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onsolas"/>
              </a:defRPr>
            </a:pPr>
            <a:r>
              <a:t>GET  /api/predict/model-info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200400"/>
            <a:ext cx="2011680" cy="411480"/>
          </a:xfrm>
          <a:prstGeom prst="round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2258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Segmentation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32004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onsolas"/>
              </a:defRPr>
            </a:pPr>
            <a:r>
              <a:t>GET  /api/segment/customers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34747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onsolas"/>
              </a:defRPr>
            </a:pPr>
            <a:r>
              <a:t>GET  /api/segment/summary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297680"/>
            <a:ext cx="2011680" cy="41148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3230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Prevision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42976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onsolas"/>
              </a:defRPr>
            </a:pPr>
            <a:r>
              <a:t>GET  /api/forecast/demand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0" y="45720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onsolas"/>
              </a:defRPr>
            </a:pPr>
            <a:r>
              <a:t>GET  /api/forecast/categories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394960"/>
            <a:ext cx="2011680" cy="411480"/>
          </a:xfrm>
          <a:prstGeom prst="round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4203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Insights LLM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5394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onsolas"/>
              </a:defRPr>
            </a:pPr>
            <a:r>
              <a:t>GET  /api/insights/summary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56692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onsolas"/>
              </a:defRPr>
            </a:pPr>
            <a:r>
              <a:t>GET  /api/insights/recommendations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0" y="2103120"/>
            <a:ext cx="3931920" cy="4114800"/>
          </a:xfrm>
          <a:prstGeom prst="round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55279" y="2194560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E86C1"/>
                </a:solidFill>
                <a:latin typeface="Calibri"/>
              </a:defRPr>
            </a:pPr>
            <a:r>
              <a:t>Exemple de reponse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56032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7AE60"/>
                </a:solidFill>
                <a:latin typeface="Consolas"/>
              </a:defRPr>
            </a:pPr>
            <a:r>
              <a:t>{</a:t>
            </a:r>
            <a:br/>
            <a:r>
              <a:t>  "score": 67.9,</a:t>
            </a:r>
            <a:br/>
            <a:r>
              <a:t>  "category": "medium",</a:t>
            </a:r>
            <a:br/>
            <a:r>
              <a:t>  "success_probability": 0.68,</a:t>
            </a:r>
            <a:br/>
            <a:r>
              <a:t>  "reasons": [</a:t>
            </a:r>
            <a:br/>
            <a:r>
              <a:t>    "Region: low success",</a:t>
            </a:r>
            <a:br/>
            <a:r>
              <a:t>    "Category: high return"</a:t>
            </a:r>
            <a:br/>
            <a:r>
              <a:t>  ],</a:t>
            </a:r>
            <a:br/>
            <a:r>
              <a:t>  "recommendation":</a:t>
            </a:r>
            <a:br/>
            <a:r>
              <a:t>    "Monitor closely",</a:t>
            </a:r>
            <a:br/>
            <a:r>
              <a:t>  "model_scores": {</a:t>
            </a:r>
            <a:br/>
            <a:r>
              <a:t>    "catboost": 92.1,</a:t>
            </a:r>
            <a:br/>
            <a:r>
              <a:t>    "lightgbm": 12.7,</a:t>
            </a:r>
            <a:br/>
            <a:r>
              <a:t>    "xgboost": 99.0</a:t>
            </a:r>
            <a:br/>
            <a:r>
              <a:t>  }</a:t>
            </a:r>
            <a:br/>
            <a:r>
              <a:t>}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13/15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B3A5C"/>
                </a:solidFill>
                <a:latin typeface="Calibri"/>
              </a:defRPr>
            </a:pPr>
            <a:r>
              <a:t>Reentrainement et Mise en Production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63040"/>
            <a:ext cx="1371600" cy="508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828800"/>
            <a:ext cx="5486400" cy="4572000"/>
          </a:xfrm>
          <a:prstGeom prst="roundRect">
            <a:avLst/>
          </a:prstGeom>
          <a:solidFill>
            <a:srgbClr val="F2F3F4"/>
          </a:solidFill>
          <a:ln w="254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7AE60"/>
                </a:solidFill>
                <a:latin typeface="Calibri"/>
              </a:defRPr>
            </a:pPr>
            <a:r>
              <a:t>Pipeline de reentrainement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77440"/>
            <a:ext cx="51206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2C3E50"/>
                </a:solidFill>
                <a:latin typeface="Calibri"/>
              </a:defRPr>
            </a:pPr>
            <a:r>
              <a:t>1. Upload du CSV via POST /api/retrain/upload-and-train</a:t>
            </a:r>
          </a:p>
          <a:p>
            <a:pPr>
              <a:spcAft>
                <a:spcPts val="300"/>
              </a:spcAft>
              <a:defRPr sz="1300">
                <a:solidFill>
                  <a:srgbClr val="2C3E50"/>
                </a:solidFill>
                <a:latin typeface="Calibri"/>
              </a:defRPr>
            </a:pPr>
            <a:r>
              <a:t>2. Backup automatique des modeles actuels</a:t>
            </a:r>
          </a:p>
          <a:p>
            <a:pPr>
              <a:spcAft>
                <a:spcPts val="300"/>
              </a:spcAft>
              <a:defRPr sz="1300">
                <a:solidFill>
                  <a:srgbClr val="2C3E50"/>
                </a:solidFill>
                <a:latin typeface="Calibri"/>
              </a:defRPr>
            </a:pPr>
            <a:r>
              <a:t>3. Validation et adaptation du format des colonnes</a:t>
            </a:r>
          </a:p>
          <a:p>
            <a:pPr>
              <a:spcAft>
                <a:spcPts val="300"/>
              </a:spcAft>
              <a:defRPr sz="1300">
                <a:solidFill>
                  <a:srgbClr val="2C3E50"/>
                </a:solidFill>
                <a:latin typeface="Calibri"/>
              </a:defRPr>
            </a:pPr>
            <a:r>
              <a:t>4. Entrainement des 3 modeles (risque, segments, prevision)</a:t>
            </a:r>
          </a:p>
          <a:p>
            <a:pPr>
              <a:spcAft>
                <a:spcPts val="300"/>
              </a:spcAft>
              <a:defRPr sz="1300">
                <a:solidFill>
                  <a:srgbClr val="2C3E50"/>
                </a:solidFill>
                <a:latin typeface="Calibri"/>
              </a:defRPr>
            </a:pPr>
            <a:r>
              <a:t>5. Sauvegarde des metriques dans metrics.json</a:t>
            </a:r>
          </a:p>
          <a:p>
            <a:pPr>
              <a:spcAft>
                <a:spcPts val="300"/>
              </a:spcAft>
              <a:defRPr sz="1300">
                <a:solidFill>
                  <a:srgbClr val="2C3E50"/>
                </a:solidFill>
                <a:latin typeface="Calibri"/>
              </a:defRPr>
            </a:pPr>
            <a:r>
              <a:t>6. Rechargement automatique dans le service</a:t>
            </a:r>
          </a:p>
          <a:p>
            <a:pPr>
              <a:spcAft>
                <a:spcPts val="300"/>
              </a:spcAft>
              <a:defRPr sz="1300">
                <a:solidFill>
                  <a:srgbClr val="2C3E50"/>
                </a:solidFill>
                <a:latin typeface="Calibri"/>
              </a:defRPr>
            </a:pPr>
            <a:r>
              <a:t>7. Rollback possible via /api/retrain/restore-defaults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28800"/>
            <a:ext cx="5486400" cy="2103120"/>
          </a:xfrm>
          <a:prstGeom prst="roundRect">
            <a:avLst/>
          </a:prstGeom>
          <a:solidFill>
            <a:srgbClr val="F2F3F4"/>
          </a:solidFill>
          <a:ln w="254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9202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86C1"/>
                </a:solidFill>
                <a:latin typeface="Calibri"/>
              </a:defRPr>
            </a:pPr>
            <a:r>
              <a:t>Modeles et metriques sauvegardes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377440"/>
            <a:ext cx="51206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>
                <a:solidFill>
                  <a:srgbClr val="2C3E50"/>
                </a:solidFill>
                <a:latin typeface="Calibri"/>
              </a:defRPr>
            </a:pPr>
            <a:r>
              <a:t>risk_ensemble.joblib (4 MB) - Ensemble CatBoost+LightGBM+XGBoost</a:t>
            </a:r>
          </a:p>
          <a:p>
            <a:pPr>
              <a:spcAft>
                <a:spcPts val="200"/>
              </a:spcAft>
              <a:defRPr sz="1200">
                <a:solidFill>
                  <a:srgbClr val="2C3E50"/>
                </a:solidFill>
                <a:latin typeface="Calibri"/>
              </a:defRPr>
            </a:pPr>
            <a:r>
              <a:t>segmenter.joblib (9.7 MB) - HDBSCAN clustering</a:t>
            </a:r>
          </a:p>
          <a:p>
            <a:pPr>
              <a:spcAft>
                <a:spcPts val="200"/>
              </a:spcAft>
              <a:defRPr sz="1200">
                <a:solidFill>
                  <a:srgbClr val="2C3E50"/>
                </a:solidFill>
                <a:latin typeface="Calibri"/>
              </a:defRPr>
            </a:pPr>
            <a:r>
              <a:t>forecaster_models.joblib (278 KB) - 4 Prophet models</a:t>
            </a:r>
          </a:p>
          <a:p>
            <a:pPr>
              <a:spcAft>
                <a:spcPts val="200"/>
              </a:spcAft>
              <a:defRPr sz="1200">
                <a:solidFill>
                  <a:srgbClr val="2C3E50"/>
                </a:solidFill>
                <a:latin typeface="Calibri"/>
              </a:defRPr>
            </a:pPr>
            <a:r>
              <a:t>metrics.json (3 KB) - Toutes les metriques d'evaluation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114800"/>
            <a:ext cx="5486400" cy="2286000"/>
          </a:xfrm>
          <a:prstGeom prst="round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420624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86C1"/>
                </a:solidFill>
                <a:latin typeface="Calibri"/>
              </a:defRPr>
            </a:pPr>
            <a:r>
              <a:t>Format CSV attendu (GET /api/retrain/data-format)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4572000"/>
            <a:ext cx="51206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100">
                <a:solidFill>
                  <a:srgbClr val="F2F3F4"/>
                </a:solidFill>
                <a:latin typeface="Calibri"/>
              </a:defRPr>
            </a:pPr>
            <a:r>
              <a:t>Requis: order_status, order_purchase_timestamp,</a:t>
            </a:r>
          </a:p>
          <a:p>
            <a:pPr>
              <a:spcAft>
                <a:spcPts val="100"/>
              </a:spcAft>
              <a:defRPr sz="1100">
                <a:solidFill>
                  <a:srgbClr val="F2F3F4"/>
                </a:solidFill>
                <a:latin typeface="Calibri"/>
              </a:defRPr>
            </a:pPr>
            <a:r>
              <a:t>        payment_value, customer_unique_id</a:t>
            </a:r>
          </a:p>
          <a:p>
            <a:pPr>
              <a:spcAft>
                <a:spcPts val="100"/>
              </a:spcAft>
              <a:defRPr sz="1100">
                <a:solidFill>
                  <a:srgbClr val="F2F3F4"/>
                </a:solidFill>
                <a:latin typeface="Calibri"/>
              </a:defRPr>
            </a:pPr>
            <a:r>
              <a:t>Optionnel: customer_state, product_category_name,</a:t>
            </a:r>
          </a:p>
          <a:p>
            <a:pPr>
              <a:spcAft>
                <a:spcPts val="100"/>
              </a:spcAft>
              <a:defRPr sz="1100">
                <a:solidFill>
                  <a:srgbClr val="F2F3F4"/>
                </a:solidFill>
                <a:latin typeface="Calibri"/>
              </a:defRPr>
            </a:pPr>
            <a:r>
              <a:t>          product_weight_g, order_estimated_delivery_date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14/15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Conclusion et Perspectives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88720"/>
            <a:ext cx="1371600" cy="508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Contributions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F2F3F4"/>
                </a:solidFill>
                <a:latin typeface="Calibri"/>
              </a:defRPr>
            </a:pPr>
            <a:r>
              <a:t>CRM complet : 12 tables, 11 modules, multi-tenant</a:t>
            </a:r>
          </a:p>
          <a:p>
            <a:pPr>
              <a:spcAft>
                <a:spcPts val="400"/>
              </a:spcAft>
              <a:defRPr sz="1500">
                <a:solidFill>
                  <a:srgbClr val="F2F3F4"/>
                </a:solidFill>
                <a:latin typeface="Calibri"/>
              </a:defRPr>
            </a:pPr>
            <a:r>
              <a:t>Ensemble ML (CatBoost+LightGBM+XGBoost) : F1 = 0.999</a:t>
            </a:r>
          </a:p>
          <a:p>
            <a:pPr>
              <a:spcAft>
                <a:spcPts val="400"/>
              </a:spcAft>
              <a:defRPr sz="1500">
                <a:solidFill>
                  <a:srgbClr val="F2F3F4"/>
                </a:solidFill>
                <a:latin typeface="Calibri"/>
              </a:defRPr>
            </a:pPr>
            <a:r>
              <a:t>Segmentation automatique : 5 profils clients (HDBSCAN)</a:t>
            </a:r>
          </a:p>
          <a:p>
            <a:pPr>
              <a:spcAft>
                <a:spcPts val="400"/>
              </a:spcAft>
              <a:defRPr sz="1500">
                <a:solidFill>
                  <a:srgbClr val="F2F3F4"/>
                </a:solidFill>
                <a:latin typeface="Calibri"/>
              </a:defRPr>
            </a:pPr>
            <a:r>
              <a:t>Prevision Prophet : -42.3% MAE vs baseline</a:t>
            </a:r>
          </a:p>
          <a:p>
            <a:pPr>
              <a:spcAft>
                <a:spcPts val="400"/>
              </a:spcAft>
              <a:defRPr sz="1500">
                <a:solidFill>
                  <a:srgbClr val="F2F3F4"/>
                </a:solidFill>
                <a:latin typeface="Calibri"/>
              </a:defRPr>
            </a:pPr>
            <a:r>
              <a:t>Integration LLM (Gemini) multilingue AR/FR/EN</a:t>
            </a:r>
          </a:p>
          <a:p>
            <a:pPr>
              <a:spcAft>
                <a:spcPts val="400"/>
              </a:spcAft>
              <a:defRPr sz="1500">
                <a:solidFill>
                  <a:srgbClr val="F2F3F4"/>
                </a:solidFill>
                <a:latin typeface="Calibri"/>
              </a:defRPr>
            </a:pPr>
            <a:r>
              <a:t>API de reentrainement : upload CSV, backup, rollback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5544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67E22"/>
                </a:solidFill>
                <a:latin typeface="Calibri"/>
              </a:defRPr>
            </a:pPr>
            <a:r>
              <a:t>Perspectives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01168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F2F3F4"/>
                </a:solidFill>
                <a:latin typeface="Calibri"/>
              </a:defRPr>
            </a:pPr>
            <a:r>
              <a:t>Reentrainement sur donnees reelles algeriennes</a:t>
            </a:r>
          </a:p>
          <a:p>
            <a:pPr>
              <a:spcAft>
                <a:spcPts val="400"/>
              </a:spcAft>
              <a:defRPr sz="1500">
                <a:solidFill>
                  <a:srgbClr val="F2F3F4"/>
                </a:solidFill>
                <a:latin typeface="Calibri"/>
              </a:defRPr>
            </a:pPr>
            <a:r>
              <a:t>Modeles deep learning (TabTransformer, N-BEATS)</a:t>
            </a:r>
          </a:p>
          <a:p>
            <a:pPr>
              <a:spcAft>
                <a:spcPts val="400"/>
              </a:spcAft>
              <a:defRPr sz="1500">
                <a:solidFill>
                  <a:srgbClr val="F2F3F4"/>
                </a:solidFill>
                <a:latin typeface="Calibri"/>
              </a:defRPr>
            </a:pPr>
            <a:r>
              <a:t>Apprentissage en ligne (mise a jour continue)</a:t>
            </a:r>
          </a:p>
          <a:p>
            <a:pPr>
              <a:spcAft>
                <a:spcPts val="400"/>
              </a:spcAft>
              <a:defRPr sz="1500">
                <a:solidFill>
                  <a:srgbClr val="F2F3F4"/>
                </a:solidFill>
                <a:latin typeface="Calibri"/>
              </a:defRPr>
            </a:pPr>
            <a:r>
              <a:t>A/B testing de l'impact des recommandations ML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5029200"/>
            <a:ext cx="5760720" cy="13716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5212080"/>
            <a:ext cx="5760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Merci pour votre attention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576072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2F3F4"/>
                </a:solidFill>
                <a:latin typeface="Calibri"/>
              </a:defRPr>
            </a:pPr>
            <a:r>
              <a:t>Questions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15/15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