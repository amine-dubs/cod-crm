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2F3F4"/>
                </a:solidFill>
                <a:latin typeface="Calibri"/>
              </a:defRPr>
            </a:pPr>
            <a:r>
              <a:t>Conception et Developpement d'un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CRM Intelligent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2F3F4"/>
                </a:solidFill>
                <a:latin typeface="Calibri"/>
              </a:defRPr>
            </a:pPr>
            <a:r>
              <a:t>Integrant un Module de Prediction des Ventes</a:t>
            </a:r>
            <a:br/>
            <a:r>
              <a:t>Base sur le Machine Learning pour le E-Commerce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4206240"/>
            <a:ext cx="3931920" cy="254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480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Entreprise : BAT PROJET ENGINEERING  |  Represente par Mr. ATALLAH Mohammed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2F3F4"/>
                </a:solidFill>
                <a:latin typeface="Calibri"/>
              </a:defRPr>
            </a:pPr>
            <a:r>
              <a:t>Rezaiguia Soltane Tadj Eddine (DS)    Bellatreche Mohamed Amine (DS)</a:t>
            </a:r>
            <a:br/>
            <a:r>
              <a:t>Khelifi Ayyoub (CS)    Brahim Soheib (AI)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5029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2F3F4"/>
                </a:solidFill>
                <a:latin typeface="Calibri"/>
              </a:defRPr>
            </a:pPr>
            <a:r>
              <a:t>Encadre par : Dr. Khellat Souad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F8C8D"/>
                </a:solidFill>
                <a:latin typeface="Calibri"/>
              </a:defRPr>
            </a:pPr>
            <a:r>
              <a:t>Projet de Fin d'Etudes  |  Specialite : Data Science  |  Annee 2024-2025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B3A5C"/>
                </a:solidFill>
                <a:latin typeface="Calibri"/>
              </a:defRPr>
            </a:pPr>
            <a:r>
              <a:t>Plan de la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1371600" cy="50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920240"/>
            <a:ext cx="502920" cy="50292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894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  <a:latin typeface="Calibri"/>
              </a:defRPr>
            </a:pPr>
            <a:r>
              <a:t>Contexte et Problematique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174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Calibri"/>
              </a:defRPr>
            </a:pPr>
            <a:r>
              <a:t>E-commerce COD en Algerie, defis, objectifs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697480"/>
            <a:ext cx="502920" cy="50292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672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  <a:latin typeface="Calibri"/>
              </a:defRPr>
            </a:pPr>
            <a:r>
              <a:t>Architecture du Systeme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951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Calibri"/>
              </a:defRPr>
            </a:pPr>
            <a:r>
              <a:t>Architecture globale, base de donnees, microservices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474720"/>
            <a:ext cx="502920" cy="50292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449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  <a:latin typeface="Calibri"/>
              </a:defRPr>
            </a:pPr>
            <a:r>
              <a:t>Integration 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728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Calibri"/>
              </a:defRPr>
            </a:pPr>
            <a:r>
              <a:t>Flux IA, pipeline ML, cycle de vie commande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251960"/>
            <a:ext cx="502920" cy="50292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226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  <a:latin typeface="Calibri"/>
              </a:defRPr>
            </a:pPr>
            <a:r>
              <a:t>Modeles de Machine Learning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505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Calibri"/>
              </a:defRPr>
            </a:pPr>
            <a:r>
              <a:t>Risk scoring, segmentation, prevision demande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5029200"/>
            <a:ext cx="502920" cy="50292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5003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  <a:latin typeface="Calibri"/>
              </a:defRPr>
            </a:pPr>
            <a:r>
              <a:t>Resultats et Evaluation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283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Calibri"/>
              </a:defRPr>
            </a:pPr>
            <a:r>
              <a:t>Comparaison des modeles, metriques, interpretation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5806440"/>
            <a:ext cx="502920" cy="50292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781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  <a:latin typeface="Calibri"/>
              </a:defRPr>
            </a:pPr>
            <a:r>
              <a:t>Demonstration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6060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Calibri"/>
              </a:defRPr>
            </a:pPr>
            <a:r>
              <a:t>Endpoints, exemples de requetes/reponses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2/15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B3A5C"/>
                </a:solidFill>
                <a:latin typeface="Calibri"/>
              </a:defRPr>
            </a:pPr>
            <a:r>
              <a:t>Contexte et Problematique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1371600" cy="50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303520" cy="4389120"/>
          </a:xfrm>
          <a:prstGeom prst="roundRect">
            <a:avLst/>
          </a:prstGeom>
          <a:solidFill>
            <a:srgbClr val="F2F3F4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86C1"/>
                </a:solidFill>
                <a:latin typeface="Calibri"/>
              </a:defRPr>
            </a:pPr>
            <a:r>
              <a:t>Le modele COD en Algerie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90%+ des transactions en Cash-on-Delivery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58 wilayas, 3 zones d'expedition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Monnaie : Dinar Algerien (DZD)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Population jeune et connectee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303520" cy="4389120"/>
          </a:xfrm>
          <a:prstGeom prst="roundRect">
            <a:avLst/>
          </a:prstGeom>
          <a:solidFill>
            <a:srgbClr val="F2F3F4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Calibri"/>
              </a:defRPr>
            </a:pPr>
            <a:r>
              <a:t>Problematique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688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30-50% des commandes echouent (retour, refus, absence)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Couts de transport aller-retour sans recette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Confirmations telephoniques manuelles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Aucune capacite predictive dans les CRM actuels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669280"/>
            <a:ext cx="10881360" cy="7315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7607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Objectif : Integrer le Machine Learning dans le CRM pour transformer les donnees en decisions actionnables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3/15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B3A5C"/>
                </a:solidFill>
                <a:latin typeface="Calibri"/>
              </a:defRPr>
            </a:pPr>
            <a:r>
              <a:t>Architecture Globale du Systeme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1371600" cy="50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rchitecture_globale.draw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737360"/>
            <a:ext cx="9418320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4/15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B3A5C"/>
                </a:solidFill>
                <a:latin typeface="Calibri"/>
              </a:defRPr>
            </a:pPr>
            <a:r>
              <a:t>Schema Relationnel de la Base de Donnees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1371600" cy="50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Calibri"/>
              </a:defRPr>
            </a:pPr>
            <a:r>
              <a:t>12 tables  |  Architecture multi-tenant (store_id)  |  MySQL 8.0  |  UTF8MB4</a:t>
            </a:r>
          </a:p>
        </p:txBody>
      </p:sp>
      <p:pic>
        <p:nvPicPr>
          <p:cNvPr id="6" name="Picture 5" descr="schema_base_donnees.draw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0"/>
            <a:ext cx="1124712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5/15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B3A5C"/>
                </a:solidFill>
                <a:latin typeface="Calibri"/>
              </a:defRPr>
            </a:pPr>
            <a:r>
              <a:t>Integration IA dans le CRM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1371600" cy="50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i_integration.draw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10698480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6/15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B3A5C"/>
                </a:solidFill>
                <a:latin typeface="Calibri"/>
              </a:defRPr>
            </a:pPr>
            <a:r>
              <a:t>Pipeline Machine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1371600" cy="50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l_pipeline.draw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10698480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7/15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B3A5C"/>
                </a:solidFill>
                <a:latin typeface="Calibri"/>
              </a:defRPr>
            </a:pPr>
            <a:r>
              <a:t>Cycle de Vie d'une Commande COD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1371600" cy="50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ycle_vie_commande.draw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10698480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8/15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B3A5C"/>
                </a:solidFill>
                <a:latin typeface="Calibri"/>
              </a:defRPr>
            </a:pPr>
            <a:r>
              <a:t>Prediction du Risque de Livraison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1371600" cy="50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  <a:latin typeface="Calibri"/>
              </a:defRPr>
            </a:pPr>
            <a:r>
              <a:t>Classification binaire : predire si une commande sera livree (y=1) ou echouera (y=0)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560320"/>
            <a:ext cx="2103120" cy="1371600"/>
          </a:xfrm>
          <a:prstGeom prst="roundRect">
            <a:avLst/>
          </a:prstGeom>
          <a:solidFill>
            <a:srgbClr val="F2F3F4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1680" y="26517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E86C1"/>
                </a:solidFill>
                <a:latin typeface="Calibri"/>
              </a:defRPr>
            </a:pPr>
            <a:r>
              <a:t>Temporelles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1680" y="301752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  <a:latin typeface="Calibri"/>
              </a:defRPr>
            </a:pPr>
            <a:r>
              <a:t>6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1680" y="33375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Calibri"/>
              </a:defRPr>
            </a:pPr>
            <a:r>
              <a:t>Heure, jour, mois, weekend, trimestre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2560320"/>
            <a:ext cx="2103120" cy="1371600"/>
          </a:xfrm>
          <a:prstGeom prst="roundRect">
            <a:avLst/>
          </a:prstGeom>
          <a:solidFill>
            <a:srgbClr val="F2F3F4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81960" y="26517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7AE60"/>
                </a:solidFill>
                <a:latin typeface="Calibri"/>
              </a:defRPr>
            </a:pPr>
            <a:r>
              <a:t>Valeur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81960" y="301752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  <a:latin typeface="Calibri"/>
              </a:defRPr>
            </a:pPr>
            <a:r>
              <a:t>4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81960" y="33375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Calibri"/>
              </a:defRPr>
            </a:pPr>
            <a:r>
              <a:t>Montant, sous-total, frais, ratio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2560320"/>
            <a:ext cx="2103120" cy="1371600"/>
          </a:xfrm>
          <a:prstGeom prst="roundRect">
            <a:avLst/>
          </a:prstGeom>
          <a:solidFill>
            <a:srgbClr val="F2F3F4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22240" y="26517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67E22"/>
                </a:solidFill>
                <a:latin typeface="Calibri"/>
              </a:defRPr>
            </a:pPr>
            <a:r>
              <a:t>Client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2240" y="301752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  <a:latin typeface="Calibri"/>
              </a:defRPr>
            </a:pPr>
            <a:r>
              <a:t>3 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22240" y="33375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Calibri"/>
              </a:defRPr>
            </a:pPr>
            <a:r>
              <a:t>Recurrence, nb commandes, panier moyen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2560320"/>
            <a:ext cx="2103120" cy="1371600"/>
          </a:xfrm>
          <a:prstGeom prst="roundRect">
            <a:avLst/>
          </a:prstGeom>
          <a:solidFill>
            <a:srgbClr val="F2F3F4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62520" y="26517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8E44AD"/>
                </a:solidFill>
                <a:latin typeface="Calibri"/>
              </a:defRPr>
            </a:pPr>
            <a:r>
              <a:t>Paiement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62520" y="301752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  <a:latin typeface="Calibri"/>
              </a:defRPr>
            </a:pPr>
            <a:r>
              <a:t>6 features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62520" y="33375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Calibri"/>
              </a:defRPr>
            </a:pPr>
            <a:r>
              <a:t>Boleto/COD, CB, debit, voucher, mensualites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0" y="2560320"/>
            <a:ext cx="2103120" cy="1371600"/>
          </a:xfrm>
          <a:prstGeom prst="roundRect">
            <a:avLst/>
          </a:prstGeom>
          <a:solidFill>
            <a:srgbClr val="F2F3F4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02800" y="26517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C0392B"/>
                </a:solidFill>
                <a:latin typeface="Calibri"/>
              </a:defRPr>
            </a:pPr>
            <a:r>
              <a:t>Qualite/Geo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02800" y="301752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  <a:latin typeface="Calibri"/>
              </a:defRPr>
            </a:pPr>
            <a:r>
              <a:t>12 features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02800" y="33375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Calibri"/>
              </a:defRPr>
            </a:pPr>
            <a:r>
              <a:t>Photos, desc., volume, poids, region, vendeur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206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Calibri"/>
              </a:defRPr>
            </a:pPr>
            <a:r>
              <a:t>Ensemble par vote pondere (Soft Voting) de 3 modeles :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754880"/>
            <a:ext cx="3474720" cy="137160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1680" y="48463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CatBoost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1680" y="53035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2F3F4"/>
                </a:solidFill>
                <a:latin typeface="Calibri"/>
              </a:defRPr>
            </a:pPr>
            <a:r>
              <a:t>Gestion native des</a:t>
            </a:r>
            <a:br/>
            <a:r>
              <a:t>variables categorielles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19" y="4754880"/>
            <a:ext cx="3474720" cy="137160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90719" y="48463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LightGBM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90719" y="53035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2F3F4"/>
                </a:solidFill>
                <a:latin typeface="Calibri"/>
              </a:defRPr>
            </a:pPr>
            <a:r>
              <a:t>GOSS + EFB</a:t>
            </a:r>
            <a:br/>
            <a:r>
              <a:t>Croissance leaf-wise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38158" y="4754880"/>
            <a:ext cx="3474720" cy="137160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39758" y="48463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XGBoost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39758" y="53035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2F3F4"/>
                </a:solidFill>
                <a:latin typeface="Calibri"/>
              </a:defRPr>
            </a:pPr>
            <a:r>
              <a:t>Regularisation L1/L2</a:t>
            </a:r>
            <a:br/>
            <a:r>
              <a:t>Optimisation Newton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9/15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B3A5C"/>
                </a:solidFill>
                <a:latin typeface="Calibri"/>
              </a:defRPr>
            </a:pPr>
            <a:r>
              <a:t>Resultats : Comparaison des Modeles de Classification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1371600" cy="50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Calibri"/>
              </a:defRPr>
            </a:pPr>
            <a:r>
              <a:t>Test : 19 543 echantillons (80/20 split stratifie)  |  31 features  |  ADASYN + Optuna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2011680" cy="457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3055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Modele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2103120"/>
            <a:ext cx="1554480" cy="457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13055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AUC-ROC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2103120"/>
            <a:ext cx="1554480" cy="457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213055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Accuracy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2103120"/>
            <a:ext cx="1554480" cy="457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213055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Precision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0" y="2103120"/>
            <a:ext cx="1554480" cy="457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0" y="213055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Rappel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2560" y="2103120"/>
            <a:ext cx="1554480" cy="457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213055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F1-Score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2560320"/>
            <a:ext cx="2011680" cy="4572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25984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Calibri"/>
              </a:defRPr>
            </a:pPr>
            <a:r>
              <a:t>CatBoost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34640" y="2560320"/>
            <a:ext cx="1554480" cy="4572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34640" y="25984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Calibri"/>
              </a:defRPr>
            </a:pPr>
            <a:r>
              <a:t>0.9957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2560320"/>
            <a:ext cx="1554480" cy="4572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25984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Calibri"/>
              </a:defRPr>
            </a:pPr>
            <a:r>
              <a:t>0.9997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2560320"/>
            <a:ext cx="1554480" cy="4572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0" y="25984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Calibri"/>
              </a:defRPr>
            </a:pPr>
            <a:r>
              <a:t>0.9997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80" y="2560320"/>
            <a:ext cx="1554480" cy="4572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0" y="25984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Calibri"/>
              </a:defRPr>
            </a:pPr>
            <a:r>
              <a:t>1.0000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52560" y="2560320"/>
            <a:ext cx="1554480" cy="4572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0" y="25984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Calibri"/>
              </a:defRPr>
            </a:pPr>
            <a:r>
              <a:t>0.9999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3017520"/>
            <a:ext cx="20116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30556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Calibri"/>
              </a:defRPr>
            </a:pPr>
            <a:r>
              <a:t>LightGBM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34640" y="3017520"/>
            <a:ext cx="15544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34640" y="30556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Calibri"/>
              </a:defRPr>
            </a:pPr>
            <a:r>
              <a:t>0.9974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0" y="3017520"/>
            <a:ext cx="15544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0" y="30556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Calibri"/>
              </a:defRPr>
            </a:pPr>
            <a:r>
              <a:t>0.9997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0" y="3017520"/>
            <a:ext cx="15544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0" y="30556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Calibri"/>
              </a:defRPr>
            </a:pPr>
            <a:r>
              <a:t>0.9997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8080" y="3017520"/>
            <a:ext cx="15544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98080" y="30556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Calibri"/>
              </a:defRPr>
            </a:pPr>
            <a:r>
              <a:t>1.0000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52560" y="3017520"/>
            <a:ext cx="15544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52560" y="30556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Calibri"/>
              </a:defRPr>
            </a:pPr>
            <a:r>
              <a:t>0.9999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960" y="3474720"/>
            <a:ext cx="2011680" cy="4572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35128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Calibri"/>
              </a:defRPr>
            </a:pPr>
            <a:r>
              <a:t>XGBoost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34640" y="3474720"/>
            <a:ext cx="1554480" cy="4572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834640" y="35128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Calibri"/>
              </a:defRPr>
            </a:pPr>
            <a:r>
              <a:t>0.9967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89120" y="3474720"/>
            <a:ext cx="1554480" cy="4572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89120" y="35128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Calibri"/>
              </a:defRPr>
            </a:pPr>
            <a:r>
              <a:t>0.9996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3474720"/>
            <a:ext cx="1554480" cy="4572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43600" y="35128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Calibri"/>
              </a:defRPr>
            </a:pPr>
            <a:r>
              <a:t>0.9997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498080" y="3474720"/>
            <a:ext cx="1554480" cy="4572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98080" y="35128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Calibri"/>
              </a:defRPr>
            </a:pPr>
            <a:r>
              <a:t>0.9999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052560" y="3474720"/>
            <a:ext cx="1554480" cy="4572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52560" y="35128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Calibri"/>
              </a:defRPr>
            </a:pPr>
            <a:r>
              <a:t>0.9998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2960" y="3931920"/>
            <a:ext cx="2011680" cy="457200"/>
          </a:xfrm>
          <a:prstGeom prst="rect">
            <a:avLst/>
          </a:prstGeom>
          <a:solidFill>
            <a:srgbClr val="2E86C1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2960" y="39700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Ensemble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834640" y="3931920"/>
            <a:ext cx="1554480" cy="457200"/>
          </a:xfrm>
          <a:prstGeom prst="rect">
            <a:avLst/>
          </a:prstGeom>
          <a:solidFill>
            <a:srgbClr val="2E86C1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834640" y="39700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0.9961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389120" y="3931920"/>
            <a:ext cx="1554480" cy="457200"/>
          </a:xfrm>
          <a:prstGeom prst="rect">
            <a:avLst/>
          </a:prstGeom>
          <a:solidFill>
            <a:srgbClr val="2E86C1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389120" y="39700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0.9997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943600" y="3931920"/>
            <a:ext cx="1554480" cy="457200"/>
          </a:xfrm>
          <a:prstGeom prst="rect">
            <a:avLst/>
          </a:prstGeom>
          <a:solidFill>
            <a:srgbClr val="2E86C1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43600" y="39700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0.9997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498080" y="3931920"/>
            <a:ext cx="1554480" cy="457200"/>
          </a:xfrm>
          <a:prstGeom prst="rect">
            <a:avLst/>
          </a:prstGeom>
          <a:solidFill>
            <a:srgbClr val="2E86C1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498080" y="39700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1.0000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052560" y="3931920"/>
            <a:ext cx="1554480" cy="457200"/>
          </a:xfrm>
          <a:prstGeom prst="rect">
            <a:avLst/>
          </a:prstGeom>
          <a:solidFill>
            <a:srgbClr val="2E86C1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052560" y="39700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0.9999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296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  <a:latin typeface="Calibri"/>
              </a:defRPr>
            </a:pPr>
            <a:r>
              <a:t>Matrice de Confusion (Ensemble)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22960" y="5212080"/>
            <a:ext cx="1828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22960" y="5237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69" name="Rectangle 68"/>
          <p:cNvSpPr/>
          <p:nvPr/>
        </p:nvSpPr>
        <p:spPr>
          <a:xfrm>
            <a:off x="2651760" y="5212080"/>
            <a:ext cx="1828800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651760" y="5237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Predit: Echouee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480560" y="5212080"/>
            <a:ext cx="1828800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480560" y="5237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Predit: Livree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22960" y="5623560"/>
            <a:ext cx="1828800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22960" y="564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Reel: Echouee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651760" y="5623560"/>
            <a:ext cx="1828800" cy="411480"/>
          </a:xfrm>
          <a:prstGeom prst="rect">
            <a:avLst/>
          </a:prstGeom>
          <a:solidFill>
            <a:srgbClr val="D5E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651760" y="564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Calibri"/>
              </a:defRPr>
            </a:pPr>
            <a:r>
              <a:t>242 (VN)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480560" y="5623560"/>
            <a:ext cx="1828800" cy="411480"/>
          </a:xfrm>
          <a:prstGeom prst="rect">
            <a:avLst/>
          </a:prstGeom>
          <a:solidFill>
            <a:srgbClr val="F8C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480560" y="564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Calibri"/>
              </a:defRPr>
            </a:pPr>
            <a:r>
              <a:t>5 (FP)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22960" y="6035040"/>
            <a:ext cx="1828800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22960" y="6060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Reel: Livree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651760" y="6035040"/>
            <a:ext cx="1828800" cy="411480"/>
          </a:xfrm>
          <a:prstGeom prst="rect">
            <a:avLst/>
          </a:prstGeom>
          <a:solidFill>
            <a:srgbClr val="F8C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651760" y="6060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Calibri"/>
              </a:defRPr>
            </a:pPr>
            <a:r>
              <a:t>0 (FN)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480560" y="6035040"/>
            <a:ext cx="1828800" cy="411480"/>
          </a:xfrm>
          <a:prstGeom prst="rect">
            <a:avLst/>
          </a:prstGeom>
          <a:solidFill>
            <a:srgbClr val="D5E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480560" y="6060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Calibri"/>
              </a:defRPr>
            </a:pPr>
            <a:r>
              <a:t>19 296 (VP)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400800" y="4846320"/>
            <a:ext cx="5029200" cy="1371600"/>
          </a:xfrm>
          <a:prstGeom prst="roundRect">
            <a:avLst/>
          </a:prstGeom>
          <a:solidFill>
            <a:srgbClr val="FDF2E9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583680" y="493776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7E22"/>
                </a:solidFill>
                <a:latin typeface="Calibri"/>
              </a:defRPr>
            </a:pPr>
            <a:r>
              <a:t>Points cles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583680" y="530352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AUC-ROC : 0.9961 (31 features, ADASYN, Optuna)</a:t>
            </a:r>
          </a:p>
          <a:p>
            <a:pPr>
              <a:spcAft>
                <a:spcPts val="2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Rappel echecs : 98% | Precision : 100% | F1 = 0.99</a:t>
            </a:r>
          </a:p>
          <a:p>
            <a:pPr>
              <a:spcAft>
                <a:spcPts val="2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Seuil optimal : 0.9805 (Youden's J statistic)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10/15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B3A5C"/>
                </a:solidFill>
                <a:latin typeface="Calibri"/>
              </a:defRPr>
            </a:pPr>
            <a:r>
              <a:t>Segmentation Client (HDBSCAN + RFM)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1371600" cy="50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7F8C8D"/>
                </a:solidFill>
                <a:latin typeface="Calibri"/>
              </a:defRPr>
            </a:pPr>
            <a:r>
              <a:t>Analyse RFM (Recency, Frequency, Monetary) + Clustering HDBSCAN (min_cluster_size=50)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2103120" cy="2560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210312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30428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VIP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7AE60"/>
                </a:solidFill>
                <a:latin typeface="Calibri"/>
              </a:defRPr>
            </a:pPr>
            <a:r>
              <a:t>3 673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832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(3.8%)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404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Calibri"/>
              </a:defRPr>
            </a:pPr>
            <a:r>
              <a:t>Haute valeur, achats frequents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2286000"/>
            <a:ext cx="2103120" cy="2560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0" y="2286000"/>
            <a:ext cx="2103120" cy="4572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0" y="230428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Loyal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9260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E86C1"/>
                </a:solidFill>
                <a:latin typeface="Calibri"/>
              </a:defRPr>
            </a:pPr>
            <a:r>
              <a:t>252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3832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(0.3%)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8404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Calibri"/>
              </a:defRPr>
            </a:pPr>
            <a:r>
              <a:t>Clients reguliers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2286000"/>
            <a:ext cx="2103120" cy="2560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0" y="2286000"/>
            <a:ext cx="2103120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230428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 Risque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9260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67E22"/>
                </a:solidFill>
                <a:latin typeface="Calibri"/>
              </a:defRPr>
            </a:pPr>
            <a:r>
              <a:t>2 736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3832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(2.8%)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38404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Calibri"/>
              </a:defRPr>
            </a:pPr>
            <a:r>
              <a:t>Declin d'activite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2286000"/>
            <a:ext cx="2103120" cy="2560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0" y="2286000"/>
            <a:ext cx="210312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0" y="230428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Perdu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29260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0392B"/>
                </a:solidFill>
                <a:latin typeface="Calibri"/>
              </a:defRPr>
            </a:pPr>
            <a:r>
              <a:t>441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33832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(0.5%)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38404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Calibri"/>
              </a:defRPr>
            </a:pPr>
            <a:r>
              <a:t>Inactifs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01200" y="2286000"/>
            <a:ext cx="2103120" cy="2560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F8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601200" y="2286000"/>
            <a:ext cx="2103120" cy="45720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0" y="230428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Standard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29260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7F8C8D"/>
                </a:solidFill>
                <a:latin typeface="Calibri"/>
              </a:defRPr>
            </a:pPr>
            <a:r>
              <a:t>88 994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33832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(92.6%)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38404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Calibri"/>
              </a:defRPr>
            </a:pPr>
            <a:r>
              <a:t>Clients occasionnels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120640"/>
            <a:ext cx="11247120" cy="457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14807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Total : 96 096 clients segmentes automatiquement (sans specifier K a priori)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760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/>
              </a:defRPr>
            </a:pPr>
            <a:r>
              <a:t>Actions : VIP -&gt; Fidelite &amp; offres exclusives  |  A Risque -&gt; Campagnes de reactivation  |  Standard -&gt; Strategies de conversion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11/15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B3A5C"/>
                </a:solidFill>
                <a:latin typeface="Calibri"/>
              </a:defRPr>
            </a:pPr>
            <a:r>
              <a:t>Prevision de la Demande (LightGBM + Calendrier Islamique)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1371600" cy="50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Calibri"/>
              </a:defRPr>
            </a:pPr>
            <a:r>
              <a:t>Benchmark de 5 modeles covariants  |  Serie temporelle : CA quotidien DZD sur 714 jours  |  Evaluation out-of-sample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2743200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214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Modele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2103120"/>
            <a:ext cx="2286000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21214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MAE (DZD)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77840" y="2103120"/>
            <a:ext cx="2286000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0" y="21214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RMSE (DZD)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2103120"/>
            <a:ext cx="1828800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12140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MAPE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03120"/>
            <a:ext cx="1828800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12140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vs MA7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514600"/>
            <a:ext cx="2743200" cy="384048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5400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Calibri"/>
              </a:defRPr>
            </a:pPr>
            <a:r>
              <a:t>Moyenne Mobile (7j)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2514600"/>
            <a:ext cx="2286000" cy="384048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0" y="25400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Calibri"/>
              </a:defRPr>
            </a:pPr>
            <a:r>
              <a:t>363 075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77840" y="2514600"/>
            <a:ext cx="2286000" cy="384048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77840" y="25400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Calibri"/>
              </a:defRPr>
            </a:pPr>
            <a:r>
              <a:t>466 570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3840" y="2514600"/>
            <a:ext cx="1828800" cy="384048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25400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Calibri"/>
              </a:defRPr>
            </a:pPr>
            <a:r>
              <a:t>163.9%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92640" y="2514600"/>
            <a:ext cx="1828800" cy="384048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0" y="25400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Calibri"/>
              </a:defRPr>
            </a:pPr>
            <a:r>
              <a:t>baseline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2898648"/>
            <a:ext cx="27432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292404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Calibri"/>
              </a:defRPr>
            </a:pPr>
            <a:r>
              <a:t>Prophet + Fetes islamiques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91840" y="2898648"/>
            <a:ext cx="22860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0" y="292404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Calibri"/>
              </a:defRPr>
            </a:pPr>
            <a:r>
              <a:t>376 292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77840" y="2898648"/>
            <a:ext cx="22860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77840" y="292404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Calibri"/>
              </a:defRPr>
            </a:pPr>
            <a:r>
              <a:t>447 736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63840" y="2898648"/>
            <a:ext cx="18288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63840" y="292404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Calibri"/>
              </a:defRPr>
            </a:pPr>
            <a:r>
              <a:t>150.6%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92640" y="2898648"/>
            <a:ext cx="18288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92640" y="292404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Calibri"/>
              </a:defRPr>
            </a:pPr>
            <a:r>
              <a:t>-3.6%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282696"/>
            <a:ext cx="2743200" cy="384048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330809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Calibri"/>
              </a:defRPr>
            </a:pPr>
            <a:r>
              <a:t>Chronos-T5-Small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91840" y="3282696"/>
            <a:ext cx="2286000" cy="384048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91840" y="330809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Calibri"/>
              </a:defRPr>
            </a:pPr>
            <a:r>
              <a:t>338 231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577840" y="3282696"/>
            <a:ext cx="2286000" cy="384048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77840" y="330809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Calibri"/>
              </a:defRPr>
            </a:pPr>
            <a:r>
              <a:t>395 363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863840" y="3282696"/>
            <a:ext cx="1828800" cy="384048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0" y="330809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Calibri"/>
              </a:defRPr>
            </a:pPr>
            <a:r>
              <a:t>132.9%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692640" y="3282696"/>
            <a:ext cx="1828800" cy="384048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92640" y="330809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Calibri"/>
              </a:defRPr>
            </a:pPr>
            <a:r>
              <a:t>+6.8%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3666744"/>
            <a:ext cx="2743200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369214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LightGBM + lags + holidays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91840" y="3666744"/>
            <a:ext cx="2286000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91840" y="369214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318 741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577840" y="3666744"/>
            <a:ext cx="2286000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77840" y="369214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416 501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863840" y="3666744"/>
            <a:ext cx="1828800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863840" y="369214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148.0%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692640" y="3666744"/>
            <a:ext cx="1828800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369214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+12.2%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" y="4206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  <a:latin typeface="Calibri"/>
              </a:defRPr>
            </a:pPr>
            <a:r>
              <a:t>LightGBM + Calendrier Islamique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" y="46177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19 features : lags(1,7,14,28), rolling stats, calendrier</a:t>
            </a:r>
          </a:p>
          <a:p>
            <a:pPr>
              <a:spcAft>
                <a:spcPts val="2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Covariables : Ramadan, Aid el-Fitr, Aid el-Adha, Mawlid</a:t>
            </a:r>
          </a:p>
          <a:p>
            <a:pPr>
              <a:spcAft>
                <a:spcPts val="2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hijri-converter : calcul programmatique des dates</a:t>
            </a:r>
          </a:p>
          <a:p>
            <a:pPr>
              <a:spcAft>
                <a:spcPts val="2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Prevision recursive multi-step (pas de fuite)</a:t>
            </a:r>
          </a:p>
          <a:p>
            <a:pPr>
              <a:spcAft>
                <a:spcPts val="2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4 series : global + 3 categories produit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17920" y="4160520"/>
            <a:ext cx="5212080" cy="2377440"/>
          </a:xfrm>
          <a:prstGeom prst="roundRect">
            <a:avLst/>
          </a:prstGeom>
          <a:solidFill>
            <a:srgbClr val="D5E8D4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0" y="42062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t>Pourquoi LightGBM ?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0" y="452628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Meilleur MAE : 318 741 DZD (+12.2% vs baseline)</a:t>
            </a:r>
          </a:p>
          <a:p>
            <a:pPr>
              <a:spcAft>
                <a:spcPts val="2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Supporte les covariables (calendrier islamique)</a:t>
            </a:r>
          </a:p>
          <a:p>
            <a:pPr>
              <a:spcAft>
                <a:spcPts val="2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Modeles fondamentaux (Chronos, TimesFM, MOIRAI)</a:t>
            </a:r>
          </a:p>
          <a:p>
            <a:pPr>
              <a:spcAft>
                <a:spcPts val="2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= zero-shot sans covariables -&gt; inadaptes</a:t>
            </a:r>
          </a:p>
          <a:p>
            <a:pPr>
              <a:spcAft>
                <a:spcPts val="2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714 jours favorisent LightGBM vs deep learning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12/15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B3A5C"/>
                </a:solidFill>
                <a:latin typeface="Calibri"/>
              </a:defRPr>
            </a:pPr>
            <a:r>
              <a:t>API REST : Endpoints du Module ML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1371600" cy="50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7F8C8D"/>
                </a:solidFill>
                <a:latin typeface="Calibri"/>
              </a:defRPr>
            </a:pPr>
            <a:r>
              <a:t>FastAPI (Python) - 11 endpoints - Port 8001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2011680" cy="41148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28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1031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onsolas"/>
              </a:defRPr>
            </a:pPr>
            <a:r>
              <a:t>POST /api/predict/order-risk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3774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onsolas"/>
              </a:defRPr>
            </a:pPr>
            <a:r>
              <a:t>POST /api/predict/order-risk/batch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651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onsolas"/>
              </a:defRPr>
            </a:pPr>
            <a:r>
              <a:t>GET  /api/predict/model-info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200400"/>
            <a:ext cx="2011680" cy="41148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225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Segmentation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2004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onsolas"/>
              </a:defRPr>
            </a:pPr>
            <a:r>
              <a:t>GET  /api/segment/customers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474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onsolas"/>
              </a:defRPr>
            </a:pPr>
            <a:r>
              <a:t>GET  /api/segment/summary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297680"/>
            <a:ext cx="2011680" cy="4114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323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Prevision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4297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onsolas"/>
              </a:defRPr>
            </a:pPr>
            <a:r>
              <a:t>GET  /api/forecast/demand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5720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onsolas"/>
              </a:defRPr>
            </a:pPr>
            <a:r>
              <a:t>GET  /api/forecast/categories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394960"/>
            <a:ext cx="2011680" cy="4114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420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Insights LLM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5394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onsolas"/>
              </a:defRPr>
            </a:pPr>
            <a:r>
              <a:t>GET  /api/insights/summary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5669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onsolas"/>
              </a:defRPr>
            </a:pPr>
            <a:r>
              <a:t>GET  /api/insights/recommendations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0" y="2103120"/>
            <a:ext cx="3931920" cy="411480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79" y="21945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86C1"/>
                </a:solidFill>
                <a:latin typeface="Calibri"/>
              </a:defRPr>
            </a:pPr>
            <a:r>
              <a:t>Exemple de reponse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2560320"/>
            <a:ext cx="3566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7AE60"/>
                </a:solidFill>
                <a:latin typeface="Consolas"/>
              </a:defRPr>
            </a:pPr>
            <a:r>
              <a:t>{</a:t>
            </a:r>
            <a:br/>
            <a:r>
              <a:t>  "score": 67.9,</a:t>
            </a:r>
            <a:br/>
            <a:r>
              <a:t>  "category": "medium",</a:t>
            </a:r>
            <a:br/>
            <a:r>
              <a:t>  "success_probability": 0.68,</a:t>
            </a:r>
            <a:br/>
            <a:r>
              <a:t>  "reasons": [</a:t>
            </a:r>
            <a:br/>
            <a:r>
              <a:t>    "Region: low success",</a:t>
            </a:r>
            <a:br/>
            <a:r>
              <a:t>    "Category: high return"</a:t>
            </a:r>
            <a:br/>
            <a:r>
              <a:t>  ],</a:t>
            </a:r>
            <a:br/>
            <a:r>
              <a:t>  "recommendation":</a:t>
            </a:r>
            <a:br/>
            <a:r>
              <a:t>    "Monitor closely",</a:t>
            </a:r>
            <a:br/>
            <a:r>
              <a:t>  "model_scores": {</a:t>
            </a:r>
            <a:br/>
            <a:r>
              <a:t>    "catboost": 92.1,</a:t>
            </a:r>
            <a:br/>
            <a:r>
              <a:t>    "lightgbm": 12.7,</a:t>
            </a:r>
            <a:br/>
            <a:r>
              <a:t>    "xgboost": 99.0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13/15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B3A5C"/>
                </a:solidFill>
                <a:latin typeface="Calibri"/>
              </a:defRPr>
            </a:pPr>
            <a:r>
              <a:t>Reentrainement et Mise en Production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1371600" cy="50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5486400" cy="4572000"/>
          </a:xfrm>
          <a:prstGeom prst="roundRect">
            <a:avLst/>
          </a:prstGeom>
          <a:solidFill>
            <a:srgbClr val="F2F3F4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7AE60"/>
                </a:solidFill>
                <a:latin typeface="Calibri"/>
              </a:defRPr>
            </a:pPr>
            <a:r>
              <a:t>Pipeline de reentrainement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1. Upload du CSV via POST /api/retrain/upload-and-train</a:t>
            </a:r>
          </a:p>
          <a:p>
            <a:pPr>
              <a:spcAft>
                <a:spcPts val="3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2. Backup automatique des modeles actuels</a:t>
            </a:r>
          </a:p>
          <a:p>
            <a:pPr>
              <a:spcAft>
                <a:spcPts val="3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3. Validation et adaptation du format des colonnes</a:t>
            </a:r>
          </a:p>
          <a:p>
            <a:pPr>
              <a:spcAft>
                <a:spcPts val="3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4. Entrainement des 3 modeles (risque, segments, prevision)</a:t>
            </a:r>
          </a:p>
          <a:p>
            <a:pPr>
              <a:spcAft>
                <a:spcPts val="3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5. Sauvegarde des metriques dans metrics.json</a:t>
            </a:r>
          </a:p>
          <a:p>
            <a:pPr>
              <a:spcAft>
                <a:spcPts val="3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6. Rechargement automatique dans le service</a:t>
            </a:r>
          </a:p>
          <a:p>
            <a:pPr>
              <a:spcAft>
                <a:spcPts val="3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7. Rollback possible via /api/retrain/restore-defaults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486400" cy="2103120"/>
          </a:xfrm>
          <a:prstGeom prst="roundRect">
            <a:avLst/>
          </a:prstGeom>
          <a:solidFill>
            <a:srgbClr val="F2F3F4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C1"/>
                </a:solidFill>
                <a:latin typeface="Calibri"/>
              </a:defRPr>
            </a:pPr>
            <a:r>
              <a:t>Modeles et metriques sauvegardes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37744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risk_ensemble.joblib (7.6 MB) - Ensemble CatBoost+LightGBM+XGBoost</a:t>
            </a:r>
          </a:p>
          <a:p>
            <a:pPr>
              <a:spcAft>
                <a:spcPts val="2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segmenter.joblib (9.7 MB) - HDBSCAN clustering</a:t>
            </a:r>
          </a:p>
          <a:p>
            <a:pPr>
              <a:spcAft>
                <a:spcPts val="2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forecaster_lgbm.joblib (1.8 MB) - LightGBM + calendrier islamique</a:t>
            </a:r>
          </a:p>
          <a:p>
            <a:pPr>
              <a:spcAft>
                <a:spcPts val="2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metrics.json (4 KB) - Toutes les metriques d'evaluation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114800"/>
            <a:ext cx="5486400" cy="228600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2062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86C1"/>
                </a:solidFill>
                <a:latin typeface="Calibri"/>
              </a:defRPr>
            </a:pPr>
            <a:r>
              <a:t>Format CSV attendu (GET /api/retrain/data-format)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57200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F2F3F4"/>
                </a:solidFill>
                <a:latin typeface="Calibri"/>
              </a:defRPr>
            </a:pPr>
            <a:r>
              <a:t>Requis: order_status, order_purchase_timestamp,</a:t>
            </a:r>
          </a:p>
          <a:p>
            <a:pPr>
              <a:spcAft>
                <a:spcPts val="100"/>
              </a:spcAft>
              <a:defRPr sz="1100">
                <a:solidFill>
                  <a:srgbClr val="F2F3F4"/>
                </a:solidFill>
                <a:latin typeface="Calibri"/>
              </a:defRPr>
            </a:pPr>
            <a:r>
              <a:t>        payment_value, customer_unique_id</a:t>
            </a:r>
          </a:p>
          <a:p>
            <a:pPr>
              <a:spcAft>
                <a:spcPts val="100"/>
              </a:spcAft>
              <a:defRPr sz="1100">
                <a:solidFill>
                  <a:srgbClr val="F2F3F4"/>
                </a:solidFill>
                <a:latin typeface="Calibri"/>
              </a:defRPr>
            </a:pPr>
            <a:r>
              <a:t>Optionnel: customer_state, product_category_name,</a:t>
            </a:r>
          </a:p>
          <a:p>
            <a:pPr>
              <a:spcAft>
                <a:spcPts val="100"/>
              </a:spcAft>
              <a:defRPr sz="1100">
                <a:solidFill>
                  <a:srgbClr val="F2F3F4"/>
                </a:solidFill>
                <a:latin typeface="Calibri"/>
              </a:defRPr>
            </a:pPr>
            <a:r>
              <a:t>          product_weight_g, order_estimated_delivery_date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14/15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Conclusion et Perspectives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71600" cy="50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86C1"/>
                </a:solidFill>
                <a:latin typeface="Calibri"/>
              </a:defRPr>
            </a:pPr>
            <a:r>
              <a:t>Contributions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2F3F4"/>
                </a:solidFill>
                <a:latin typeface="Calibri"/>
              </a:defRPr>
            </a:pPr>
            <a:r>
              <a:t>CRM complet : 12 tables, 11 modules, multi-tenant</a:t>
            </a:r>
          </a:p>
          <a:p>
            <a:pPr>
              <a:spcAft>
                <a:spcPts val="400"/>
              </a:spcAft>
              <a:defRPr sz="1500">
                <a:solidFill>
                  <a:srgbClr val="F2F3F4"/>
                </a:solidFill>
                <a:latin typeface="Calibri"/>
              </a:defRPr>
            </a:pPr>
            <a:r>
              <a:t>Ensemble ML (CatBoost+LightGBM+XGBoost + ADASYN + Optuna) : AUC = 0.9961, Rappel(echecs) = 98%</a:t>
            </a:r>
          </a:p>
          <a:p>
            <a:pPr>
              <a:spcAft>
                <a:spcPts val="400"/>
              </a:spcAft>
              <a:defRPr sz="1500">
                <a:solidFill>
                  <a:srgbClr val="F2F3F4"/>
                </a:solidFill>
                <a:latin typeface="Calibri"/>
              </a:defRPr>
            </a:pPr>
            <a:r>
              <a:t>31 features enrichies (8 categories), cible propre</a:t>
            </a:r>
          </a:p>
          <a:p>
            <a:pPr>
              <a:spcAft>
                <a:spcPts val="400"/>
              </a:spcAft>
              <a:defRPr sz="1500">
                <a:solidFill>
                  <a:srgbClr val="F2F3F4"/>
                </a:solidFill>
                <a:latin typeface="Calibri"/>
              </a:defRPr>
            </a:pPr>
            <a:r>
              <a:t>Segmentation automatique : 5 profils clients (HDBSCAN)</a:t>
            </a:r>
          </a:p>
          <a:p>
            <a:pPr>
              <a:spcAft>
                <a:spcPts val="400"/>
              </a:spcAft>
              <a:defRPr sz="1500">
                <a:solidFill>
                  <a:srgbClr val="F2F3F4"/>
                </a:solidFill>
                <a:latin typeface="Calibri"/>
              </a:defRPr>
            </a:pPr>
            <a:r>
              <a:t>Prevision LightGBM + Calendrier islamique : MAE 318K DZD (+12.2% vs baseline, 5 modeles)</a:t>
            </a:r>
          </a:p>
          <a:p>
            <a:pPr>
              <a:spcAft>
                <a:spcPts val="400"/>
              </a:spcAft>
              <a:defRPr sz="1500">
                <a:solidFill>
                  <a:srgbClr val="F2F3F4"/>
                </a:solidFill>
                <a:latin typeface="Calibri"/>
              </a:defRPr>
            </a:pPr>
            <a:r>
              <a:t>Integration LLM (Gemini) multilingue AR/FR/EN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67E22"/>
                </a:solidFill>
                <a:latin typeface="Calibri"/>
              </a:defRPr>
            </a:pPr>
            <a:r>
              <a:t>Perspectives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2F3F4"/>
                </a:solidFill>
                <a:latin typeface="Calibri"/>
              </a:defRPr>
            </a:pPr>
            <a:r>
              <a:t>Reentrainement sur donnees reelles algeriennes</a:t>
            </a:r>
          </a:p>
          <a:p>
            <a:pPr>
              <a:spcAft>
                <a:spcPts val="400"/>
              </a:spcAft>
              <a:defRPr sz="1500">
                <a:solidFill>
                  <a:srgbClr val="F2F3F4"/>
                </a:solidFill>
                <a:latin typeface="Calibri"/>
              </a:defRPr>
            </a:pPr>
            <a:r>
              <a:t>Impact reel des fetes islamiques (deja integrees)</a:t>
            </a:r>
          </a:p>
          <a:p>
            <a:pPr>
              <a:spcAft>
                <a:spcPts val="400"/>
              </a:spcAft>
              <a:defRPr sz="1500">
                <a:solidFill>
                  <a:srgbClr val="F2F3F4"/>
                </a:solidFill>
                <a:latin typeface="Calibri"/>
              </a:defRPr>
            </a:pPr>
            <a:r>
              <a:t>Apprentissage en ligne (mise a jour continue)</a:t>
            </a:r>
          </a:p>
          <a:p>
            <a:pPr>
              <a:spcAft>
                <a:spcPts val="400"/>
              </a:spcAft>
              <a:defRPr sz="1500">
                <a:solidFill>
                  <a:srgbClr val="F2F3F4"/>
                </a:solidFill>
                <a:latin typeface="Calibri"/>
              </a:defRPr>
            </a:pPr>
            <a:r>
              <a:t>A/B testing de l'impact des recommandations ML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5029200"/>
            <a:ext cx="5760720" cy="13716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521208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Merci pour votre attention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576072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2F3F4"/>
                </a:solidFill>
                <a:latin typeface="Calibri"/>
              </a:defRPr>
            </a:pPr>
            <a:r>
              <a:t>Questions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15/15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