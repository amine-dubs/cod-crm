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2F3F4"/>
                </a:solidFill>
                <a:latin typeface="Calibri"/>
              </a:defRPr>
            </a:pPr>
            <a:r>
              <a:t>Conception et Developpement d'un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CRM Intelligent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2F3F4"/>
                </a:solidFill>
                <a:latin typeface="Calibri"/>
              </a:defRPr>
            </a:pPr>
            <a:r>
              <a:t>Integrant un Module de Prediction des Ventes</a:t>
            </a:r>
            <a:br/>
            <a:r>
              <a:t>Base sur le Machine Learning pour le E-Commerce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4206240"/>
            <a:ext cx="3931920" cy="25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Entreprise : BAT PROJET ENGINEERING  |  Represente par Mr. ATALLAH Mohammed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2F3F4"/>
                </a:solidFill>
                <a:latin typeface="Calibri"/>
              </a:defRPr>
            </a:pPr>
            <a:r>
              <a:t>Rezaiguia Soltane Tadj Eddine (DS)    Bellatreche Mohamed Amine (DS)</a:t>
            </a:r>
            <a:br/>
            <a:r>
              <a:t>Khelifi Ayyoub (CS)    Brahim Soheib (AI)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50292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2F3F4"/>
                </a:solidFill>
                <a:latin typeface="Calibri"/>
              </a:defRPr>
            </a:pPr>
            <a:r>
              <a:t>Encadre par : Dr. Khellat Souad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7F8C8D"/>
                </a:solidFill>
                <a:latin typeface="Calibri"/>
              </a:defRPr>
            </a:pPr>
            <a:r>
              <a:t>Projet de Fin d'Etudes  |  Specialite : Data Science  |  Annee 2024-2025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Plan de la Presentation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92024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894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Contexte et Problematique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174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E-commerce COD en Algerie, defis, objectifs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69748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672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Architecture du Systeme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951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Architecture globale, base de donnees, microservices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47472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449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Integration 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728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Flux IA, pipeline ML, cycle de vie commande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25196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226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Modeles de Machine 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505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Risk scoring, segmentation, prevision demande</a:t>
            </a:r>
          </a:p>
        </p:txBody>
      </p:sp>
      <p:sp>
        <p:nvSpPr>
          <p:cNvPr id="17" name="Oval 16"/>
          <p:cNvSpPr/>
          <p:nvPr/>
        </p:nvSpPr>
        <p:spPr>
          <a:xfrm>
            <a:off x="914400" y="502920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5003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Resultats et Evaluation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283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Comparaison des modeles, metriques, interpretation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5806440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781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Demonstration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6060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F8C8D"/>
                </a:solidFill>
                <a:latin typeface="Calibri"/>
              </a:defRPr>
            </a:pPr>
            <a:r>
              <a:t>Endpoints, exemples de requetes/reponses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Contexte et Problematique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303520" cy="4389120"/>
          </a:xfrm>
          <a:prstGeom prst="roundRect">
            <a:avLst/>
          </a:prstGeom>
          <a:solidFill>
            <a:srgbClr val="F2F3F4"/>
          </a:solidFill>
          <a:ln w="127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Le modele COD en Algerie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90%+ des transactions en Cash-on-Delivery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58 wilayas, 3 zones d'expedition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Monnaie : Dinar Algerien (DZD)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Population jeune et connectee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303520" cy="4389120"/>
          </a:xfrm>
          <a:prstGeom prst="roundRect">
            <a:avLst/>
          </a:prstGeom>
          <a:solidFill>
            <a:srgbClr val="F2F3F4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Calibri"/>
              </a:defRPr>
            </a:pPr>
            <a:r>
              <a:t>Problematique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6888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30-50% des commandes echouent (retour, refus, absence)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Couts de transport aller-retour sans recette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Confirmations telephoniques manuelles</a:t>
            </a:r>
          </a:p>
          <a:p>
            <a:pPr>
              <a:spcAft>
                <a:spcPts val="600"/>
              </a:spcAft>
              <a:defRPr sz="1500">
                <a:solidFill>
                  <a:srgbClr val="2C3E50"/>
                </a:solidFill>
                <a:latin typeface="Calibri"/>
              </a:defRPr>
            </a:pPr>
            <a:r>
              <a:t>Aucune capacite predictive dans les CRM actuels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69280"/>
            <a:ext cx="10881360" cy="73152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Objectif : Integrer le Machine Learning dans le CRM pour transformer les donnees en decisions actionnables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Architecture Globale du Systeme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chitecture_globale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737360"/>
            <a:ext cx="941832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Schema Relationnel de la Base de Donnees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12 tables  |  Architecture multi-tenant (store_id)  |  MySQL 8.0  |  UTF8MB4</a:t>
            </a:r>
          </a:p>
        </p:txBody>
      </p:sp>
      <p:pic>
        <p:nvPicPr>
          <p:cNvPr id="6" name="Picture 5" descr="schema_base_donnees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11680"/>
            <a:ext cx="1124712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Integration IA dans le CRM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i_integration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1069848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Pipeline Machine Learning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l_pipeline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1069848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Cycle de Vie d'une Commande COD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ycle_vie_commande.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1069848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Prediction du Risque de Livraison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C3E50"/>
                </a:solidFill>
                <a:latin typeface="Calibri"/>
              </a:defRPr>
            </a:pPr>
            <a:r>
              <a:t>Classification binaire : predire si une commande sera livree (y=1) ou echouera (y=0)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168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E86C1"/>
                </a:solidFill>
                <a:latin typeface="Calibri"/>
              </a:defRPr>
            </a:pPr>
            <a:r>
              <a:t>Temporelles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168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4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168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Heure, jour, mois, weekend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8196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27AE60"/>
                </a:solidFill>
                <a:latin typeface="Calibri"/>
              </a:defRPr>
            </a:pPr>
            <a:r>
              <a:t>Valeur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196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5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196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Montant, frais, remise, sous-total, ratio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224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67E22"/>
                </a:solidFill>
                <a:latin typeface="Calibri"/>
              </a:defRPr>
            </a:pPr>
            <a:r>
              <a:t>Produit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2224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3 features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224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Articles, prix cat., popularite cat.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6092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6252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8E44AD"/>
                </a:solidFill>
                <a:latin typeface="Calibri"/>
              </a:defRPr>
            </a:pPr>
            <a:r>
              <a:t>Client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252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5 features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252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Tel. alt, recurrence, nb commandes, CLV, source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0" y="2560320"/>
            <a:ext cx="2103120" cy="13716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02800" y="265176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C0392B"/>
                </a:solidFill>
                <a:latin typeface="Calibri"/>
              </a:defRPr>
            </a:pPr>
            <a:r>
              <a:t>Contexte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0280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3 features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02800" y="333756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C3E50"/>
                </a:solidFill>
                <a:latin typeface="Calibri"/>
              </a:defRPr>
            </a:pPr>
            <a:r>
              <a:t>Volume regional, delai, poids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206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  <a:latin typeface="Calibri"/>
              </a:defRPr>
            </a:pPr>
            <a:r>
              <a:t>Ensemble par vote pondere (Soft Voting) de 3 modeles :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754880"/>
            <a:ext cx="3474720" cy="137160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1680" y="4846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CatBoost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1680" y="53035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2F3F4"/>
                </a:solidFill>
                <a:latin typeface="Calibri"/>
              </a:defRPr>
            </a:pPr>
            <a:r>
              <a:t>Gestion native des</a:t>
            </a:r>
            <a:br/>
            <a:r>
              <a:t>variables categorielles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19" y="4754880"/>
            <a:ext cx="3474720" cy="137160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90719" y="4846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LightGBM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90719" y="53035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2F3F4"/>
                </a:solidFill>
                <a:latin typeface="Calibri"/>
              </a:defRPr>
            </a:pPr>
            <a:r>
              <a:t>GOSS + EFB</a:t>
            </a:r>
            <a:br/>
            <a:r>
              <a:t>Croissance leaf-wise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8158" y="4754880"/>
            <a:ext cx="3474720" cy="137160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39758" y="4846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39758" y="5303520"/>
            <a:ext cx="3291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2F3F4"/>
                </a:solidFill>
                <a:latin typeface="Calibri"/>
              </a:defRPr>
            </a:pPr>
            <a:r>
              <a:t>Regularisation L1/L2</a:t>
            </a:r>
            <a:br/>
            <a:r>
              <a:t>Optimisation Newton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Resultats : Comparaison des Modeles de Classification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Ensemble de test : 19 889 echantillons (80/20 split stratifie)  |  20 features sans fuite de donnees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20116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3055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Modele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AUC-ROC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Accuracy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Precision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Rappel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2103120"/>
            <a:ext cx="155448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2130552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F1-Score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560320"/>
            <a:ext cx="20116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25984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CatBoost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4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3464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0.6760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0.9422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0.9782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9808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0.9619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2560" y="25603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25984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0.9700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3017520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30556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LightGBM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3464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3464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0.6818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0.9481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0.9790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9808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0.9672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52560" y="3017520"/>
            <a:ext cx="15544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52560" y="30556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0.9731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" y="3474720"/>
            <a:ext cx="20116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35128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3464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3464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0.6950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12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8912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0.9446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0.9790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9808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9808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0.9636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52560" y="3474720"/>
            <a:ext cx="1554480" cy="457200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52560" y="35128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C3E50"/>
                </a:solidFill>
                <a:latin typeface="Calibri"/>
              </a:defRPr>
            </a:pPr>
            <a:r>
              <a:t>0.9712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2960" y="3931920"/>
            <a:ext cx="20116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960" y="39700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Ensemble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83464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83464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0.6942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12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8912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0.9585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94360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4360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0.9789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9808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9808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0.9783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052560" y="3931920"/>
            <a:ext cx="1554480" cy="457200"/>
          </a:xfrm>
          <a:prstGeom prst="rect">
            <a:avLst/>
          </a:prstGeom>
          <a:solidFill>
            <a:srgbClr val="2E86C1"/>
          </a:solidFill>
          <a:ln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52560" y="3970020"/>
            <a:ext cx="1554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0.9786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" y="4754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Matrice de Confusion (Ensemble)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2960" y="5212080"/>
            <a:ext cx="18288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22960" y="5237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69" name="Rectangle 68"/>
          <p:cNvSpPr/>
          <p:nvPr/>
        </p:nvSpPr>
        <p:spPr>
          <a:xfrm>
            <a:off x="2651760" y="521208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651760" y="5237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Predit: Echouee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80560" y="521208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480560" y="5237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Predit: Livree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22960" y="562356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22960" y="5648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Reel: Echouee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651760" y="5623560"/>
            <a:ext cx="1828800" cy="411480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651760" y="5648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186 (VN)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80560" y="5623560"/>
            <a:ext cx="1828800" cy="411480"/>
          </a:xfrm>
          <a:prstGeom prst="rect">
            <a:avLst/>
          </a:prstGeom>
          <a:solidFill>
            <a:srgbClr val="F8C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480560" y="5648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407 (FP)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2960" y="603504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2960" y="6060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Reel: Livree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651760" y="6035040"/>
            <a:ext cx="1828800" cy="411480"/>
          </a:xfrm>
          <a:prstGeom prst="rect">
            <a:avLst/>
          </a:prstGeom>
          <a:solidFill>
            <a:srgbClr val="F8C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651760" y="6060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418 (FN)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80560" y="6035040"/>
            <a:ext cx="1828800" cy="411480"/>
          </a:xfrm>
          <a:prstGeom prst="rect">
            <a:avLst/>
          </a:prstGeom>
          <a:solidFill>
            <a:srgbClr val="D5E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480560" y="6060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18 878 (VP)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400800" y="4846320"/>
            <a:ext cx="5029200" cy="137160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583680" y="493776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7E22"/>
                </a:solidFill>
                <a:latin typeface="Calibri"/>
              </a:defRPr>
            </a:pPr>
            <a:r>
              <a:t>Points cles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83680" y="530352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AUC-ROC : 0.69 (metrique honnete, sans fuite de donnees)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825 erreurs sur 19 889  |  F1-Score : 0.979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Ensemble retenu pour sa robustesse (vote pondere)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Segmentation Client (HDBSCAN + RFM)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7F8C8D"/>
                </a:solidFill>
                <a:latin typeface="Calibri"/>
              </a:defRPr>
            </a:pPr>
            <a:r>
              <a:t>Analyse RFM (Recency, Frequency, Monetary) + Clustering HDBSCAN (min_cluster_size=50)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210312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7AE60"/>
                </a:solidFill>
                <a:latin typeface="Calibri"/>
              </a:defRPr>
            </a:pPr>
            <a:r>
              <a:t>3 673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(3.8%)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Haute valeur, achats frequents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2286000"/>
            <a:ext cx="2103120" cy="4572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Loyal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E86C1"/>
                </a:solidFill>
                <a:latin typeface="Calibri"/>
              </a:defRPr>
            </a:pPr>
            <a:r>
              <a:t>252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(0.3%)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Clients reguliers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0" y="2286000"/>
            <a:ext cx="210312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 Risque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67E22"/>
                </a:solidFill>
                <a:latin typeface="Calibri"/>
              </a:defRPr>
            </a:pPr>
            <a:r>
              <a:t>2 736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(2.8%)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Declin d'activite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2286000"/>
            <a:ext cx="2103120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Perdu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0392B"/>
                </a:solidFill>
                <a:latin typeface="Calibri"/>
              </a:defRPr>
            </a:pPr>
            <a:r>
              <a:t>441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(0.5%)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Inactifs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01200" y="2286000"/>
            <a:ext cx="210312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F8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01200" y="2286000"/>
            <a:ext cx="2103120" cy="45720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0" y="230428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Standard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2926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7F8C8D"/>
                </a:solidFill>
                <a:latin typeface="Calibri"/>
              </a:defRPr>
            </a:pPr>
            <a:r>
              <a:t>88 994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3383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(92.6%)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38404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Clients occasionnels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120640"/>
            <a:ext cx="11247120" cy="457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14807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Total : 96 096 clients segmentes automatiquement (sans specifier K a priori)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Actions : VIP -&gt; Fidelite &amp; offres exclusives  |  A Risque -&gt; Campagnes de reactivation  |  Standard -&gt; Strategies de conversion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Prevision de la Demande (Chronos)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  <a:latin typeface="Calibri"/>
              </a:defRPr>
            </a:pPr>
            <a:r>
              <a:t>Benchmark de 8 modeles  |  Serie temporelle : CA quotidien DZD sur 714 jours  |  Evaluation out-of-sample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7432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2140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Modele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103120"/>
            <a:ext cx="22860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21214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MAE (DZD)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77840" y="2103120"/>
            <a:ext cx="22860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21214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RMSE (DZD)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10312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212140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MAPE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03120"/>
            <a:ext cx="1828800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0" y="212140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vs MA7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514600"/>
            <a:ext cx="27432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5400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Naive (last value)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2514600"/>
            <a:ext cx="22860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0" y="254000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422 968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77840" y="2514600"/>
            <a:ext cx="22860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0" y="254000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489 543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63840" y="2514600"/>
            <a:ext cx="18288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0" y="25400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231%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92640" y="2514600"/>
            <a:ext cx="18288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0" y="25400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-40.3%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898648"/>
            <a:ext cx="2743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92404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Seasonal Naive (7d)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91840" y="2898648"/>
            <a:ext cx="2286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91840" y="292404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327 196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7840" y="2898648"/>
            <a:ext cx="2286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77840" y="292404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437 764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63840" y="2898648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0" y="292404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170%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92640" y="2898648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92640" y="292404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-8.6%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282696"/>
            <a:ext cx="27432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30809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Moyenne Mobile (7j)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91840" y="3282696"/>
            <a:ext cx="22860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1840" y="330809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301 401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77840" y="3282696"/>
            <a:ext cx="22860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0" y="330809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371 511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63840" y="3282696"/>
            <a:ext cx="18288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0" y="330809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156%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92640" y="3282696"/>
            <a:ext cx="18288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92640" y="330809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3666744"/>
            <a:ext cx="2743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3692144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Holt-Winters (ETS)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91840" y="3666744"/>
            <a:ext cx="2286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91840" y="369214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400 363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77840" y="3666744"/>
            <a:ext cx="2286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0" y="369214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485 037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63840" y="3666744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863840" y="369214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175%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92640" y="3666744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92640" y="369214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-32.8%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4050792"/>
            <a:ext cx="27432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40761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SARIMAX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91840" y="4050792"/>
            <a:ext cx="22860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91840" y="407619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413 834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77840" y="4050792"/>
            <a:ext cx="22860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577840" y="407619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468 574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863840" y="4050792"/>
            <a:ext cx="18288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63840" y="407619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250%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692640" y="4050792"/>
            <a:ext cx="1828800" cy="384048"/>
          </a:xfrm>
          <a:prstGeom prst="rect">
            <a:avLst/>
          </a:prstGeom>
          <a:solidFill>
            <a:srgbClr val="F2F3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92640" y="407619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-37.3%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" y="4434840"/>
            <a:ext cx="2743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446024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Prophet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91840" y="4434840"/>
            <a:ext cx="2286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291840" y="446024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347 629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577840" y="4434840"/>
            <a:ext cx="22860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577840" y="446024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417 498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863840" y="4434840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63840" y="44602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175%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692640" y="4434840"/>
            <a:ext cx="18288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692640" y="44602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-15.3%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48640" y="4818888"/>
            <a:ext cx="274320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8640" y="484428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Chronos-T5-Small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291840" y="4818888"/>
            <a:ext cx="228600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291840" y="484428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331 551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577840" y="4818888"/>
            <a:ext cx="228600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577840" y="484428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382 864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863840" y="4818888"/>
            <a:ext cx="182880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863840" y="484428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136%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692640" y="4818888"/>
            <a:ext cx="182880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692640" y="484428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-10.0%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40080" y="5394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3A5C"/>
                </a:solidFill>
                <a:latin typeface="Calibri"/>
              </a:defRPr>
            </a:pPr>
            <a:r>
              <a:t>Amazon Chronos-T5-Small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40080" y="58064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Transformeur pre-entraine (46M parametres)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Zero-shot : pas de fine-tuning necessaire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Meilleur RMSE (382K) et MAPE (136%)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4 series : global + 3 categories produit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217920" y="5349240"/>
            <a:ext cx="5212080" cy="1188720"/>
          </a:xfrm>
          <a:prstGeom prst="roundRect">
            <a:avLst/>
          </a:prstGeom>
          <a:solidFill>
            <a:srgbClr val="D5E8D4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00800" y="53949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Pourquoi Chronos ?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400800" y="571500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RMSE le plus bas : predictions les plus stables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MAPE le plus bas : proportionnellement le plus precis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Intervalles de confiance natifs (10e-90e percentile)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API REST : Endpoints du Module ML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7F8C8D"/>
                </a:solidFill>
                <a:latin typeface="Calibri"/>
              </a:defRPr>
            </a:pPr>
            <a:r>
              <a:t>FastAPI (Python) - 11 endpoints - Port 8001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2011680" cy="4114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285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Prediction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1031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POST /api/predict/order-risk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377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POST /api/predict/order-risk/batch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651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/api/predict/model-info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200400"/>
            <a:ext cx="2011680" cy="41148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2258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Segmentation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2004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/api/segment/customers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4747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/api/segment/summary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297680"/>
            <a:ext cx="2011680" cy="41148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3230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Prevision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2976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/api/forecast/demand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45720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/api/forecast/categories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394960"/>
            <a:ext cx="2011680" cy="4114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4203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Insights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394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/api/insights/summary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6692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onsolas"/>
              </a:defRPr>
            </a:pPr>
            <a:r>
              <a:t>GET  /api/insights/recommendations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0" y="2103120"/>
            <a:ext cx="3931920" cy="41148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79" y="219456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86C1"/>
                </a:solidFill>
                <a:latin typeface="Calibri"/>
              </a:defRPr>
            </a:pPr>
            <a:r>
              <a:t>Exemple de reponse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56032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7AE60"/>
                </a:solidFill>
                <a:latin typeface="Consolas"/>
              </a:defRPr>
            </a:pPr>
            <a:r>
              <a:t>{</a:t>
            </a:r>
            <a:br/>
            <a:r>
              <a:t>  "score": 67.9,</a:t>
            </a:r>
            <a:br/>
            <a:r>
              <a:t>  "category": "medium",</a:t>
            </a:r>
            <a:br/>
            <a:r>
              <a:t>  "success_probability": 0.68,</a:t>
            </a:r>
            <a:br/>
            <a:r>
              <a:t>  "reasons": [</a:t>
            </a:r>
            <a:br/>
            <a:r>
              <a:t>    "Region: low success",</a:t>
            </a:r>
            <a:br/>
            <a:r>
              <a:t>    "Category: high return"</a:t>
            </a:r>
            <a:br/>
            <a:r>
              <a:t>  ],</a:t>
            </a:r>
            <a:br/>
            <a:r>
              <a:t>  "recommendation":</a:t>
            </a:r>
            <a:br/>
            <a:r>
              <a:t>    "Monitor closely",</a:t>
            </a:r>
            <a:br/>
            <a:r>
              <a:t>  "model_scores": {</a:t>
            </a:r>
            <a:br/>
            <a:r>
              <a:t>    "catboost": 92.1,</a:t>
            </a:r>
            <a:br/>
            <a:r>
              <a:t>    "lightgbm": 12.7,</a:t>
            </a:r>
            <a:br/>
            <a:r>
              <a:t>    "xgboost": 99.0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B3A5C"/>
                </a:solidFill>
                <a:latin typeface="Calibri"/>
              </a:defRPr>
            </a:pPr>
            <a:r>
              <a:t>Reentrainement et Mise en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5486400" cy="457200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Pipeline de reentrainement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1. Upload du CSV via POST /api/retrain/upload-and-train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2. Backup automatique des modeles actuels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3. Validation et adaptation du format des colonnes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4. Entrainement des 3 modeles (risque, segments, prevision)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5. Sauvegarde des metriques dans metrics.json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6. Rechargement automatique dans le service</a:t>
            </a:r>
          </a:p>
          <a:p>
            <a:pPr>
              <a:spcAft>
                <a:spcPts val="300"/>
              </a:spcAft>
              <a:defRPr sz="1300">
                <a:solidFill>
                  <a:srgbClr val="2C3E50"/>
                </a:solidFill>
                <a:latin typeface="Calibri"/>
              </a:defRPr>
            </a:pPr>
            <a:r>
              <a:t>7. Rollback possible via /api/retrain/restore-defaults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486400" cy="2103120"/>
          </a:xfrm>
          <a:prstGeom prst="roundRect">
            <a:avLst/>
          </a:prstGeom>
          <a:solidFill>
            <a:srgbClr val="F2F3F4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Modeles et metriques sauvegardes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7744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risk_ensemble.joblib (4 MB) - Ensemble CatBoost+LightGBM+XGBoost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segmenter.joblib (9.7 MB) - HDBSCAN clustering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forecaster_models.joblib - Donnees series temporelles (Chronos)</a:t>
            </a:r>
          </a:p>
          <a:p>
            <a:pPr>
              <a:spcAft>
                <a:spcPts val="200"/>
              </a:spcAft>
              <a:defRPr sz="1200">
                <a:solidFill>
                  <a:srgbClr val="2C3E50"/>
                </a:solidFill>
                <a:latin typeface="Calibri"/>
              </a:defRPr>
            </a:pPr>
            <a:r>
              <a:t>metrics.json (3 KB) - Toutes les metriques d'evaluation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5486400" cy="228600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206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86C1"/>
                </a:solidFill>
                <a:latin typeface="Calibri"/>
              </a:defRPr>
            </a:pPr>
            <a:r>
              <a:t>Format CSV attendu (GET /api/retrain/data-format)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57200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Requis: order_status, order_purchase_timestamp,</a:t>
            </a:r>
          </a:p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        payment_value, customer_unique_id</a:t>
            </a:r>
          </a:p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Optionnel: customer_state, product_category_name,</a:t>
            </a:r>
          </a:p>
          <a:p>
            <a:pPr>
              <a:spcAft>
                <a:spcPts val="100"/>
              </a:spcAft>
              <a:defRPr sz="1100">
                <a:solidFill>
                  <a:srgbClr val="F2F3F4"/>
                </a:solidFill>
                <a:latin typeface="Calibri"/>
              </a:defRPr>
            </a:pPr>
            <a:r>
              <a:t>          product_weight_g, order_estimated_delivery_date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Conclusion et Perspectives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88720"/>
            <a:ext cx="1371600" cy="50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CRM complet : 12 tables, 11 modules, multi-tenant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Ensemble ML (CatBoost+LightGBM+XGBoost) : F1 = 0.979, AUC = 0.694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Segmentation automatique : 5 profils clients (HDBSCAN)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Prevision Chronos : meilleur RMSE et MAPE (8 modeles testes)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Integration LLM (Gemini) multilingue AR/FR/EN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API de reentrainement : upload CSV, backup, rollback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67E22"/>
                </a:solidFill>
                <a:latin typeface="Calibri"/>
              </a:defRPr>
            </a:pPr>
            <a:r>
              <a:t>Perspectives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Reentrainement sur donnees reelles algeriennes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Saisonnalite locale (Ramadan, Aid Adha, etc.)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Apprentissage en ligne (mise a jour continue)</a:t>
            </a:r>
          </a:p>
          <a:p>
            <a:pPr>
              <a:spcAft>
                <a:spcPts val="400"/>
              </a:spcAft>
              <a:defRPr sz="1500">
                <a:solidFill>
                  <a:srgbClr val="F2F3F4"/>
                </a:solidFill>
                <a:latin typeface="Calibri"/>
              </a:defRPr>
            </a:pPr>
            <a:r>
              <a:t>A/B testing de l'impact des recommandations ML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5029200"/>
            <a:ext cx="5760720" cy="13716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521208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Merci pour votre attention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576072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2F3F4"/>
                </a:solidFill>
                <a:latin typeface="Calibri"/>
              </a:defRPr>
            </a:pPr>
            <a:r>
              <a:t>Questions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F8C8D"/>
                </a:solidFill>
                <a:latin typeface="Calibri"/>
              </a:defRPr>
            </a:pPr>
            <a:r>
              <a:t>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