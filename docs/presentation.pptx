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2F3F4"/>
                </a:solidFill>
                <a:latin typeface="Calibri"/>
              </a:defRPr>
            </a:pPr>
            <a:r>
              <a:t>Conception et Developpement d'un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CRM Intelligent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2F3F4"/>
                </a:solidFill>
                <a:latin typeface="Calibri"/>
              </a:defRPr>
            </a:pPr>
            <a:r>
              <a:t>Integrant un Module de Prediction des Ventes</a:t>
            </a:r>
            <a:br/>
            <a:r>
              <a:t>Base sur le Machine Learning pour le E-Commerce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206240"/>
            <a:ext cx="393192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Entreprise : BAT PROJET ENGINEERING  |  Represente par Mr. ATALLAH Mohammed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Rezaiguia Soltane Tadj Eddine (DS)    Bellatreche Mohamed Amine (DS)</a:t>
            </a:r>
            <a:br/>
            <a:r>
              <a:t>Khelifi Ayyoub (CS)    Brahim Soheib (AI)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5029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2F3F4"/>
                </a:solidFill>
                <a:latin typeface="Calibri"/>
              </a:defRPr>
            </a:pPr>
            <a:r>
              <a:t>Encadre par : Dr. Khellat Souad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F8C8D"/>
                </a:solidFill>
                <a:latin typeface="Calibri"/>
              </a:defRPr>
            </a:pPr>
            <a:r>
              <a:t>Projet de Fin d'Etudes  |  Specialite : Data Science  |  Annee 2024-2025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Plan de la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9202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9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74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E-commerce COD en Algerie, defis, objectifs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69748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2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Architecture du Systeme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951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Architecture globale, base de donnees, microservices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47472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49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Integration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72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Flux IA, pipeline ML, cycle de vie commande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25196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226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Modeles de Machine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505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Risk scoring, segmentation, prevision demande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02920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003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Resultats et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8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Comparaison des modeles, metriques, interpretation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8064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781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Demonstration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6060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Endpoints, exemples de requetes/reponses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Le modele COD en Algerie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90%+ des transactions en Cash-on-Delivery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58 wilayas, 3 zones d'expedition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Monnaie : Dinar Algerien (DZD)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Population jeune et connectee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Calibri"/>
              </a:defRPr>
            </a:pPr>
            <a:r>
              <a:t>Problematique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30-50% des commandes echouent (retour, refus, absence)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Couts de transport aller-retour sans recette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Confirmations telephoniques manuelles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Aucune capacite predictive dans les CRM actuels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Objectif : Integrer le Machine Learning dans le CRM pour transformer les donnees en decisions actionnables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Architecture Globale du Systeme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global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737360"/>
            <a:ext cx="94183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Schema Relationnel de la Base de Donnees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12 tables  |  Architecture multi-tenant (store_id)  |  MySQL 8.0  |  UTF8MB4</a:t>
            </a:r>
          </a:p>
        </p:txBody>
      </p:sp>
      <p:pic>
        <p:nvPicPr>
          <p:cNvPr id="6" name="Picture 5" descr="schema_base_donnees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112471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Integration IA dans le CRM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i_integration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Pipeline Machine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l_pipelin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Cycle de Vie d'une Commande COD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ycle_vie_command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Prediction du Risque de Livraison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t>Classification binaire : predire si une commande sera livree (y=1) ou echouera (y=0)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168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86C1"/>
                </a:solidFill>
                <a:latin typeface="Calibri"/>
              </a:defRPr>
            </a:pPr>
            <a:r>
              <a:t>Temporelles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68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68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Heure, jour, mois, jours feries/weekend, trimestre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196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196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196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Montant, sous-total, frais,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224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224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224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Recurrence, nb commandes, panier moyen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252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8E44AD"/>
                </a:solidFill>
                <a:latin typeface="Calibri"/>
              </a:defRPr>
            </a:pPr>
            <a:r>
              <a:t>Paiement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252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252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Boleto/COD, CB, debit, voucher, mensualites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0280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Qualite/Geo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280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12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280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Photos, desc., volume, poids, region, vendeur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Ensemble par vote pondere (Soft Voting) de 3 modeles 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1680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680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Gestion native des</a:t>
            </a:r>
            <a:br/>
            <a:r>
              <a:t>variables categorielles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19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0719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0719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GOSS + EFB</a:t>
            </a:r>
            <a:br/>
            <a:r>
              <a:t>Croissance leaf-wise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58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9758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9758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Regularisation L1/L2</a:t>
            </a:r>
            <a:br/>
            <a:r>
              <a:t>Optimisation Newton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Resultats : Comparaison des Modeles de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Test : 19 543 echantillons (80/20 split stratifie)  |  31 features  |  ADASYN + Optuna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20116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3055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AUC-ROC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Rappel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F1-Score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5603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5984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0.9957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01752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0556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0.9974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5256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256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34747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35128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0.9967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5256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5256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0.9998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" y="3931920"/>
            <a:ext cx="20116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39700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Ensemble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0.9961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12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4360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8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1.0000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5256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0.9999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Matrice de Confusion (Ensemble)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5212080"/>
            <a:ext cx="1828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69" name="Rectangle 68"/>
          <p:cNvSpPr/>
          <p:nvPr/>
        </p:nvSpPr>
        <p:spPr>
          <a:xfrm>
            <a:off x="26517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517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Echouee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805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805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Livree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" y="562356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Echouee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651760" y="562356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6517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242 (VN)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80560" y="562356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5 (FP)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603504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29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Livree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51760" y="603504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517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0 (FN)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80560" y="603504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4805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19 296 (VP)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0" y="4846320"/>
            <a:ext cx="5029200" cy="137160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83680" y="49377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Points cles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0" y="53035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AUC-ROC : 0.9961 (31 features, ADASYN, Optuna)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Rappel echecs : 98% | Precision : 100% | F1 = 0.99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Seuil optimal : 0.9805 (Youden's J statistic)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Segmentation Client (HDBSCAN + RFM)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Analyse RFM (Recency, Frequency, Monetary) + Clustering HDBSCAN (min_cluster_size=50)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1031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3 673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(3.8%)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Haute valeur, achats frequents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2286000"/>
            <a:ext cx="210312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Loyal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t>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reguliers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2286000"/>
            <a:ext cx="210312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 Risque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7E22"/>
                </a:solidFill>
                <a:latin typeface="Calibri"/>
              </a:defRPr>
            </a:pPr>
            <a:r>
              <a:t>2 736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(2.8%)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Declin d'activite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2286000"/>
            <a:ext cx="210312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Perdu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0392B"/>
                </a:solidFill>
                <a:latin typeface="Calibri"/>
              </a:defRPr>
            </a:pPr>
            <a:r>
              <a:t>441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(0.5%)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Inactifs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F8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1200" y="2286000"/>
            <a:ext cx="2103120" cy="4572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F8C8D"/>
                </a:solidFill>
                <a:latin typeface="Calibri"/>
              </a:defRPr>
            </a:pPr>
            <a:r>
              <a:t>88 994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(92.6%)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occasionnels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1480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Total : 96 096 clients segmentes automatiquement (sans specifier K a priori)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Actions : VIP -&gt; Fidelite &amp; offres exclusives  |  A Risque -&gt; Campagnes de reactivation  |  Standard -&gt; Strategies de conversion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Prevision de la Demande (LightGBM + Calendrier Islamique)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Benchmark de 5 modeles covariants  |  Serie temporelle : CA quotidien DZD sur 714 jours  |  Evaluation out-of-sample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7432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214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103120"/>
            <a:ext cx="22860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2121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MAE (DZD)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2103120"/>
            <a:ext cx="22860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2121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RMSE (DZD)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10312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121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0312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121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vs MA7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14600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5400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Moyenne Mobile (7j)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2514600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2540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363 075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2514600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2540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466 570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0" y="2514600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2540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163.9%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92640" y="2514600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2540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98648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9240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Prophet + Fetes islamiques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2898648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2924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376 292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2898648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2924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447 736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89864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0" y="29240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150.6%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92640" y="289864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29240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-3.6%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282696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30809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Chronos-T5-Small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3282696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0" y="33080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338 231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3282696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33080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395 363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63840" y="3282696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0" y="330809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132.9%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3282696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330809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+6.8%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666744"/>
            <a:ext cx="27432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69214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LightGBM + lags + holidays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3666744"/>
            <a:ext cx="22860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0" y="3692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318 741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0" y="3666744"/>
            <a:ext cx="22860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3692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416 501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63840" y="3666744"/>
            <a:ext cx="18288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63840" y="3692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148.0%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92640" y="3666744"/>
            <a:ext cx="18288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3692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+12.2%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LightGBM + Calendrier Algerien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46177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21 features : lags(1,7,14,28), rolling stats, calendrier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Islamiques : Ramadan, Aid el-Fitr, Aid el-Adha, Mawlid, Nouvel An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Nationaux : 1er jan, Yennayer, 1er mai, 5 juil, 1er nov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is_weekend = ven-sam + jours feries islamiques + nationaux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Prevision recursive multi-step (pas de fuite)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4 series : global + 3 categories produit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17920" y="4160520"/>
            <a:ext cx="5212080" cy="2377440"/>
          </a:xfrm>
          <a:prstGeom prst="roundRect">
            <a:avLst/>
          </a:prstGeom>
          <a:solidFill>
            <a:srgbClr val="D5E8D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4206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Pourquoi LightGBM 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45262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Meilleur MAE : 318 741 DZD (+12.2% vs baseline)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Supporte les covariables (calendrier algerien)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Modeles fondamentaux (Chronos, TimesFM, MOIRAI)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= zero-shot sans covariables -&gt; inadaptes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714 jours favorisent LightGBM vs deep learning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API REST : Endpoints du Module ML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FastAPI (Python) - 15 endpoints - Port 8001  |  PHP Backend - Port 8000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01168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28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103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77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/api/predict/order-risk/batch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/api/predict/model-info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2011680" cy="41148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5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200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474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/api/segment/summary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201168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2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297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572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/api/forecast/categories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94960"/>
            <a:ext cx="201168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20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Reentrainement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94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/api/v1/ai/retrain (depuis BDD)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669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/api/retrain/upload-and-train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943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/api/retrain/restore-defaults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2103120"/>
            <a:ext cx="3931920" cy="4114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21945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86C1"/>
                </a:solidFill>
                <a:latin typeface="Calibri"/>
              </a:defRPr>
            </a:pPr>
            <a:r>
              <a:t>Exemple de reponse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256032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7AE60"/>
                </a:solidFill>
                <a:latin typeface="Consolas"/>
              </a:defRPr>
            </a:pPr>
            <a:r>
              <a:t>{</a:t>
            </a:r>
            <a:br/>
            <a:r>
              <a:t>  "score": 67.9,</a:t>
            </a:r>
            <a:br/>
            <a:r>
              <a:t>  "category": "medium",</a:t>
            </a:r>
            <a:br/>
            <a:r>
              <a:t>  "success_probability": 0.68,</a:t>
            </a:r>
            <a:br/>
            <a:r>
              <a:t>  "reasons": [</a:t>
            </a:r>
            <a:br/>
            <a:r>
              <a:t>    "Region: low success",</a:t>
            </a:r>
            <a:br/>
            <a:r>
              <a:t>    "Category: high return"</a:t>
            </a:r>
            <a:br/>
            <a:r>
              <a:t>  ],</a:t>
            </a:r>
            <a:br/>
            <a:r>
              <a:t>  "recommendation":</a:t>
            </a:r>
            <a:br/>
            <a:r>
              <a:t>    "Monitor closely",</a:t>
            </a:r>
            <a:br/>
            <a:r>
              <a:t>  "model_scores": {</a:t>
            </a:r>
            <a:br/>
            <a:r>
              <a:t>    "catboost": 92.1,</a:t>
            </a:r>
            <a:br/>
            <a:r>
              <a:t>    "lightgbm": 12.7,</a:t>
            </a:r>
            <a:br/>
            <a:r>
              <a:t>    "xgboost": 99.0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Reentrainement et Mise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45720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Pipeline de reentrainement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1. Clic sur 'Reentrainer depuis la base de donnees'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2. Extraction automatique des commandes (PHP -&gt; CSV)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3. Backup automatique des modeles actuels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4. Optimisation Optuna (40 essais bayesiens)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5. Entrainement des 3 modeles (params optimises)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6. Sauvegarde metriques + parametres optimaux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7. Rechargement automatique dans le service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8. Rollback possible via restore-defaults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486400" cy="210312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Modeles et metriques sauvegardes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risk_ensemble.joblib (7.6 MB) - Ensemble CatBoost+LightGBM+XGBoost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segmenter.joblib (9.7 MB) - HDBSCAN clustering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forecaster_lgbm.joblib (1.8 MB) - LightGBM + calendrier islamique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metrics.json (4 KB) - Toutes les metriques d'evaluation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486400" cy="22860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86C1"/>
                </a:solidFill>
                <a:latin typeface="Calibri"/>
              </a:defRPr>
            </a:pPr>
            <a:r>
              <a:t>2 methodes de reentrainement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57200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Methode 1 (recommandee) : depuis la base de donnees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-&gt; POST /api/v1/ai/retrain (un clic, automatique)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Methode 2 : upload CSV personnalise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-&gt; POST /api/retrain/upload-and-train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Optuna auto-optimise les hyperparametres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CRM complet : 12 tables, 11 modules, multi-tenant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Ensemble ML (CatBoost+LightGBM+XGBoost + ADASYN + Optuna) : AUC = 0.9961, Rappel(echecs) = 98%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31 features enrichies (8 categories), cible propre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Segmentation automatique : 5 profils clients (HDBSCAN)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Prevision LightGBM + Calendrier algerien (islamique + national) : MAE 318K DZD (+12.2% vs baseline)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Reentrainement automatique depuis la BDD + Optuna auto-tuning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Integration LLM (Gemini) multilingue AR/FR/EN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7E22"/>
                </a:solidFill>
                <a:latin typeface="Calibri"/>
              </a:defRPr>
            </a:pPr>
            <a:r>
              <a:t>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Deploiement sur donnees reelles algeriennes (un clic)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Calendrier algerien complet integre (islamique + national)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Apprentissage en ligne (mise a jour continue)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A/B testing de l'impact des recommandations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13716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52120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Merci pour votre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760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2F3F4"/>
                </a:solidFill>
                <a:latin typeface="Calibri"/>
              </a:defRPr>
            </a:pPr>
            <a:r>
              <a:t>Questions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